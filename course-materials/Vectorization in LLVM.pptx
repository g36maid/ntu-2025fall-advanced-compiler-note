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y="5143500" cx="9144000"/>
  <p:notesSz cx="6858000" cy="9144000"/>
  <p:embeddedFontLst>
    <p:embeddedFont>
      <p:font typeface="Lato"/>
      <p:regular r:id="rId62"/>
      <p:bold r:id="rId63"/>
      <p:italic r:id="rId64"/>
      <p:boldItalic r:id="rId65"/>
    </p:embeddedFont>
    <p:embeddedFont>
      <p:font typeface="Roboto Mono"/>
      <p:regular r:id="rId66"/>
      <p:bold r:id="rId67"/>
      <p:italic r:id="rId68"/>
      <p:boldItalic r:id="rId69"/>
    </p:embeddedFont>
    <p:embeddedFont>
      <p:font typeface="Open Sans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AFBBB7-AA4B-4DD8-96B4-59D6600F9274}">
  <a:tblStyle styleId="{3BAFBBB7-AA4B-4DD8-96B4-59D6600F92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OpenSans-boldItalic.fntdata"/><Relationship Id="rId72" Type="http://schemas.openxmlformats.org/officeDocument/2006/relationships/font" Target="fonts/OpenSans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OpenSans-bold.fntdata"/><Relationship Id="rId70" Type="http://schemas.openxmlformats.org/officeDocument/2006/relationships/font" Target="fonts/OpenSans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Lato-regular.fntdata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Lato-italic.fntdata"/><Relationship Id="rId63" Type="http://schemas.openxmlformats.org/officeDocument/2006/relationships/font" Target="fonts/Lato-bold.fntdata"/><Relationship Id="rId22" Type="http://schemas.openxmlformats.org/officeDocument/2006/relationships/slide" Target="slides/slide16.xml"/><Relationship Id="rId66" Type="http://schemas.openxmlformats.org/officeDocument/2006/relationships/font" Target="fonts/RobotoMono-regular.fntdata"/><Relationship Id="rId21" Type="http://schemas.openxmlformats.org/officeDocument/2006/relationships/slide" Target="slides/slide15.xml"/><Relationship Id="rId65" Type="http://schemas.openxmlformats.org/officeDocument/2006/relationships/font" Target="fonts/Lato-boldItalic.fntdata"/><Relationship Id="rId24" Type="http://schemas.openxmlformats.org/officeDocument/2006/relationships/slide" Target="slides/slide18.xml"/><Relationship Id="rId68" Type="http://schemas.openxmlformats.org/officeDocument/2006/relationships/font" Target="fonts/RobotoMono-italic.fntdata"/><Relationship Id="rId23" Type="http://schemas.openxmlformats.org/officeDocument/2006/relationships/slide" Target="slides/slide17.xml"/><Relationship Id="rId67" Type="http://schemas.openxmlformats.org/officeDocument/2006/relationships/font" Target="fonts/RobotoMono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Mon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ithelp.ithome.com.tw/m/articles/10351298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2896fa76b_0_0:notes"/>
          <p:cNvSpPr txBox="1"/>
          <p:nvPr>
            <p:ph idx="1" type="body"/>
          </p:nvPr>
        </p:nvSpPr>
        <p:spPr>
          <a:xfrm>
            <a:off x="685782" y="434338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g3a2896fa76b_0_0:notes"/>
          <p:cNvSpPr/>
          <p:nvPr>
            <p:ph idx="2" type="sldImg"/>
          </p:nvPr>
        </p:nvSpPr>
        <p:spPr>
          <a:xfrm>
            <a:off x="1143206" y="68578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2896fa76b_0_9:notes"/>
          <p:cNvSpPr txBox="1"/>
          <p:nvPr>
            <p:ph idx="1" type="body"/>
          </p:nvPr>
        </p:nvSpPr>
        <p:spPr>
          <a:xfrm>
            <a:off x="685782" y="434338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g3a2896fa76b_0_9:notes"/>
          <p:cNvSpPr/>
          <p:nvPr>
            <p:ph idx="2" type="sldImg"/>
          </p:nvPr>
        </p:nvSpPr>
        <p:spPr>
          <a:xfrm>
            <a:off x="1143206" y="68578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2896fa76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2896fa76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2896fa76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2896fa76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2896fa76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2896fa76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2896fa76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2896fa76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2896fa76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2896fa76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2896fa76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2896fa76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pass manager: there is no explicit interface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All LLVM passes inherit from the CRTP mix-in PassInfoMixin&lt;PassT&gt;.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pass should have a run() method which returns a PreservedAnalyses and takes in some unit of IR along with an analysis manager.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2896fa76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2896fa76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2896fa76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2896fa76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2896fa76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2896fa76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2896fa76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2896fa76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2896fa76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2896fa76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2896fa76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2896fa76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2896fa76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2896fa76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2896fa76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2896fa76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2896fa76b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a2896fa76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下面再貼一下SLP 為什麼要加offset Scale即可</a:t>
            </a:r>
            <a:endParaRPr sz="8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2896fa76b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2896fa76b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/>
              <a:t>A64指令集 Load/Store 指令: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https://ithelp.ithome.com.tw/m/articles/10351298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2896fa76b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2896fa76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2896fa76b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2896fa76b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2896fa76b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2896fa76b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阿邦：這邊bit應該是取5-th bit instead of 6-th bit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2896fa76b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2896fa76b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2896fa76b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a2896fa76b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2896fa76b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2896fa76b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2896fa76b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2896fa76b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2896fa76b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a2896fa76b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2896fa76b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a2896fa76b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2896fa76b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a2896fa76b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2896fa76b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2896fa76b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a2896fa76b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a2896fa76b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2896fa76b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a2896fa76b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1c5a09f37f_3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1c5a09f37f_3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1c5a09f37f_5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1c5a09f37f_5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1c5a09f37f_3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1c5a09f37f_3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1c5a09f37f_3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1c5a09f37f_3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1c5a09f37f_3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1c5a09f37f_3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1c5a09f37f_3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1c5a09f37f_3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1c5a09f37f_3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1c5a09f37f_3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1c5a09f37f_3_1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1c5a09f37f_3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太厲害了啊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我覺得就衝了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1c5a09f37f_3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1c5a09f37f_3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1c5a09f37f_3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1c5a09f37f_3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c5a09f37f_3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c5a09f37f_3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1c5a09f37f_3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1c5a09f37f_3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1c8160a4d3_0_0:notes"/>
          <p:cNvSpPr/>
          <p:nvPr>
            <p:ph idx="2" type="sldImg"/>
          </p:nvPr>
        </p:nvSpPr>
        <p:spPr>
          <a:xfrm>
            <a:off x="1143206" y="68578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1c8160a4d3_0_0:notes"/>
          <p:cNvSpPr txBox="1"/>
          <p:nvPr>
            <p:ph idx="1" type="body"/>
          </p:nvPr>
        </p:nvSpPr>
        <p:spPr>
          <a:xfrm>
            <a:off x="685782" y="434338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1c5a09f37f_3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1c5a09f37f_3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1c5a09f37f_3_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1c5a09f37f_3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1c5a09f37f_3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1c5a09f37f_3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1c5a09f37f_3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1c5a09f37f_3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1c5a09f37f_3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1c5a09f37f_3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1c5a09f37f_3_940:notes"/>
          <p:cNvSpPr txBox="1"/>
          <p:nvPr>
            <p:ph idx="1" type="body"/>
          </p:nvPr>
        </p:nvSpPr>
        <p:spPr>
          <a:xfrm>
            <a:off x="685782" y="434338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6" name="Google Shape;616;g31c5a09f37f_3_940:notes"/>
          <p:cNvSpPr/>
          <p:nvPr>
            <p:ph idx="2" type="sldImg"/>
          </p:nvPr>
        </p:nvSpPr>
        <p:spPr>
          <a:xfrm>
            <a:off x="1143206" y="68578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1c5a09f37f_3_1055:notes"/>
          <p:cNvSpPr txBox="1"/>
          <p:nvPr>
            <p:ph idx="1" type="body"/>
          </p:nvPr>
        </p:nvSpPr>
        <p:spPr>
          <a:xfrm>
            <a:off x="685782" y="434338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9" name="Google Shape;629;g31c5a09f37f_3_1055:notes"/>
          <p:cNvSpPr/>
          <p:nvPr>
            <p:ph idx="2" type="sldImg"/>
          </p:nvPr>
        </p:nvSpPr>
        <p:spPr>
          <a:xfrm>
            <a:off x="1143206" y="68578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1c5a09f37f_3_952:notes"/>
          <p:cNvSpPr txBox="1"/>
          <p:nvPr>
            <p:ph idx="1" type="body"/>
          </p:nvPr>
        </p:nvSpPr>
        <p:spPr>
          <a:xfrm>
            <a:off x="685782" y="434338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1" name="Google Shape;651;g31c5a09f37f_3_952:notes"/>
          <p:cNvSpPr/>
          <p:nvPr>
            <p:ph idx="2" type="sldImg"/>
          </p:nvPr>
        </p:nvSpPr>
        <p:spPr>
          <a:xfrm>
            <a:off x="1143206" y="68578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1c5a09f37f_3_961:notes"/>
          <p:cNvSpPr txBox="1"/>
          <p:nvPr>
            <p:ph idx="1" type="body"/>
          </p:nvPr>
        </p:nvSpPr>
        <p:spPr>
          <a:xfrm>
            <a:off x="685782" y="434338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1" name="Google Shape;661;g31c5a09f37f_3_961:notes"/>
          <p:cNvSpPr/>
          <p:nvPr>
            <p:ph idx="2" type="sldImg"/>
          </p:nvPr>
        </p:nvSpPr>
        <p:spPr>
          <a:xfrm>
            <a:off x="1143206" y="68578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1c5a09f37f_3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1c5a09f37f_3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1c3bb51c3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1c3bb51c3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5200"/>
              <a:buNone/>
              <a:defRPr sz="5200">
                <a:solidFill>
                  <a:srgbClr val="FF99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3600"/>
              <a:buNone/>
              <a:defRPr sz="3600">
                <a:solidFill>
                  <a:srgbClr val="FF99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>
                <a:solidFill>
                  <a:srgbClr val="FF9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">
  <p:cSld name="Full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b="1" sz="1400"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  <a:defRPr sz="1000"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A1E"/>
              </a:buClr>
              <a:buSzPts val="2800"/>
              <a:buFont typeface="Calibri"/>
              <a:buNone/>
              <a:defRPr>
                <a:solidFill>
                  <a:srgbClr val="F39A1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5940825" y="4982400"/>
            <a:ext cx="3385500" cy="237300"/>
            <a:chOff x="5940825" y="4982400"/>
            <a:chExt cx="3385500" cy="237300"/>
          </a:xfrm>
        </p:grpSpPr>
        <p:sp>
          <p:nvSpPr>
            <p:cNvPr id="10" name="Google Shape;10;p1"/>
            <p:cNvSpPr/>
            <p:nvPr/>
          </p:nvSpPr>
          <p:spPr>
            <a:xfrm>
              <a:off x="6129750" y="4982400"/>
              <a:ext cx="3033000" cy="237300"/>
            </a:xfrm>
            <a:prstGeom prst="rect">
              <a:avLst/>
            </a:prstGeom>
            <a:solidFill>
              <a:srgbClr val="FF9900"/>
            </a:solidFill>
            <a:ln cap="flat" cmpd="sng" w="9525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"/>
            <p:cNvSpPr txBox="1"/>
            <p:nvPr/>
          </p:nvSpPr>
          <p:spPr>
            <a:xfrm>
              <a:off x="5940825" y="4982400"/>
              <a:ext cx="3385500" cy="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NTU CSIE5054 Advanced Compiler Design</a:t>
              </a:r>
              <a:endParaRPr sz="1000">
                <a:solidFill>
                  <a:schemeClr val="dk2"/>
                </a:solidFill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pWg_Z3ODWgbGSEEArb-kPuE0irx79mu5/view?usp=drive_link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llvm/llvm-project/blob/main/llvm/lib/Passes/PassBuilderPipelines.cpp#L1134" TargetMode="External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rive.google.com/file/d/1pWg_Z3ODWgbGSEEArb-kPuE0irx79mu5/view?usp=drive_link" TargetMode="External"/><Relationship Id="rId4" Type="http://schemas.openxmlformats.org/officeDocument/2006/relationships/hyperlink" Target="https://drive.google.com/file/d/1pWg_Z3ODWgbGSEEArb-kPuE0irx79mu5/view?usp=drive_link" TargetMode="External"/><Relationship Id="rId5" Type="http://schemas.openxmlformats.org/officeDocument/2006/relationships/hyperlink" Target="https://drive.google.com/file/d/1uJ4iA-z5-zUAIsAMP0BljYqq37jR7hL9/view?usp=sharing" TargetMode="External"/><Relationship Id="rId6" Type="http://schemas.openxmlformats.org/officeDocument/2006/relationships/image" Target="../media/image10.png"/><Relationship Id="rId7" Type="http://schemas.openxmlformats.org/officeDocument/2006/relationships/hyperlink" Target="https://github.com/llvm/llvm-project/blob/main/llvm/include/llvm/Transforms/Vectorize/SLPVectorizer.h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llvm/llvm-project/blob/main/llvm/include/llvm/Transforms/Vectorize/SLPVectorizer.h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hyperlink" Target="https://github.com/llvm/llvm-project/blob/main/llvm/lib/Transforms/Vectorize/SLPVectorizer.cpp#L12670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hyperlink" Target="https://github.com/llvm/llvm-project/blob/main/llvm/lib/Transforms/Vectorize/SLPVectorizer.cpp#L12670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hyperlink" Target="https://github.com/llvm/llvm-project/blob/main/llvm/lib/Transforms/Vectorize/SLPVectorizer.cpp#L12670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hyperlink" Target="https://drive.google.com/file/d/1uJ4iA-z5-zUAIsAMP0BljYqq37jR7hL9/view?usp=sharin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hyperlink" Target="https://llvm.org/docs/Remarks.html#remark-diagnostic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lvm.org/doxygen/classT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5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Relationship Id="rId4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Relationship Id="rId4" Type="http://schemas.openxmlformats.org/officeDocument/2006/relationships/image" Target="../media/image4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hyperlink" Target="https://www.cs.cornell.edu/~asampson/blog/llvm.html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Relationship Id="rId4" Type="http://schemas.openxmlformats.org/officeDocument/2006/relationships/image" Target="../media/image4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3.png"/><Relationship Id="rId4" Type="http://schemas.openxmlformats.org/officeDocument/2006/relationships/image" Target="../media/image49.png"/><Relationship Id="rId5" Type="http://schemas.openxmlformats.org/officeDocument/2006/relationships/image" Target="../media/image4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0.png"/><Relationship Id="rId4" Type="http://schemas.openxmlformats.org/officeDocument/2006/relationships/image" Target="../media/image47.png"/><Relationship Id="rId5" Type="http://schemas.openxmlformats.org/officeDocument/2006/relationships/image" Target="../media/image4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scopus.com/record/display.uri?eid=2-s2.0-78149263448&amp;origin=inward&amp;txGid=d184e77b0a7361c5e359328e94a905eb" TargetMode="Externa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llvm.org/docs/WritingAnLLVMBackend.html" TargetMode="External"/><Relationship Id="rId4" Type="http://schemas.openxmlformats.org/officeDocument/2006/relationships/hyperlink" Target="https://www.youtube.com/watch?v=b53WqCbLEYg&amp;ab_channel=LLVM" TargetMode="External"/><Relationship Id="rId9" Type="http://schemas.openxmlformats.org/officeDocument/2006/relationships/hyperlink" Target="https://gcc.gnu.org/legacy-ml/gcc-patches/2007-08/msg00854.html" TargetMode="External"/><Relationship Id="rId5" Type="http://schemas.openxmlformats.org/officeDocument/2006/relationships/hyperlink" Target="https://llvm.org/doxygen/SLPVectorizer_8cpp.html" TargetMode="External"/><Relationship Id="rId6" Type="http://schemas.openxmlformats.org/officeDocument/2006/relationships/hyperlink" Target="https://llvm.org/doxygen/SLPVectorizer_8h_source.html" TargetMode="External"/><Relationship Id="rId7" Type="http://schemas.openxmlformats.org/officeDocument/2006/relationships/hyperlink" Target="https://medium.com/@mshockwave/writing-llvm-pass-in-2018-part-i-531c700e85eb" TargetMode="External"/><Relationship Id="rId8" Type="http://schemas.openxmlformats.org/officeDocument/2006/relationships/hyperlink" Target="https://dl.acm.org/doi/10.1145/358438.3493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1143000" y="1295051"/>
            <a:ext cx="6858000" cy="16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A1E"/>
              </a:buClr>
              <a:buSzPct val="112500"/>
              <a:buFont typeface="Calibri"/>
              <a:buNone/>
            </a:pPr>
            <a:r>
              <a:rPr lang="en" sz="4000"/>
              <a:t>SLP Pass &amp; Custom Instruction</a:t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A1E"/>
              </a:buClr>
              <a:buSzPct val="112500"/>
              <a:buFont typeface="Calibri"/>
              <a:buNone/>
            </a:pPr>
            <a:r>
              <a:rPr lang="en" sz="4000"/>
              <a:t>In LLVM Compiler</a:t>
            </a:r>
            <a:endParaRPr sz="4000"/>
          </a:p>
        </p:txBody>
      </p:sp>
      <p:pic>
        <p:nvPicPr>
          <p:cNvPr descr="民國86年申請服務標章的校徽"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145" y="3027773"/>
            <a:ext cx="1210446" cy="12104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4"/>
          <p:cNvGrpSpPr/>
          <p:nvPr/>
        </p:nvGrpSpPr>
        <p:grpSpPr>
          <a:xfrm>
            <a:off x="5940825" y="4982400"/>
            <a:ext cx="3385500" cy="237300"/>
            <a:chOff x="5940825" y="4982400"/>
            <a:chExt cx="3385500" cy="237300"/>
          </a:xfrm>
        </p:grpSpPr>
        <p:sp>
          <p:nvSpPr>
            <p:cNvPr id="64" name="Google Shape;64;p14"/>
            <p:cNvSpPr/>
            <p:nvPr/>
          </p:nvSpPr>
          <p:spPr>
            <a:xfrm>
              <a:off x="6129750" y="4982400"/>
              <a:ext cx="3033000" cy="237300"/>
            </a:xfrm>
            <a:prstGeom prst="rect">
              <a:avLst/>
            </a:prstGeom>
            <a:solidFill>
              <a:srgbClr val="FF9900"/>
            </a:solidFill>
            <a:ln cap="flat" cmpd="sng" w="9525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5940825" y="4982400"/>
              <a:ext cx="3385500" cy="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NTU CSIE5054 Advanced Compiler Design</a:t>
              </a:r>
              <a:endParaRPr sz="1000">
                <a:solidFill>
                  <a:schemeClr val="dk2"/>
                </a:solidFill>
              </a:endParaRPr>
            </a:p>
          </p:txBody>
        </p:sp>
      </p:grp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11700" y="2834125"/>
            <a:ext cx="8520600" cy="10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CSIE5054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Compiler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266700" lvl="0" marL="342900" rtl="0" algn="l"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Introduction of SLP</a:t>
            </a:r>
            <a:endParaRPr/>
          </a:p>
          <a:p>
            <a:pPr indent="-254000" lvl="1" marL="685800" rtl="0" algn="l">
              <a:spcBef>
                <a:spcPts val="90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Superword-level parallelism</a:t>
            </a:r>
            <a:endParaRPr/>
          </a:p>
          <a:p>
            <a:pPr indent="-254000" lvl="1" marL="685800" rtl="0" algn="l">
              <a:spcBef>
                <a:spcPts val="90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SLP &amp; Loop-Aware SLP</a:t>
            </a:r>
            <a:endParaRPr/>
          </a:p>
          <a:p>
            <a:pPr indent="-254000" lvl="1" marL="685800" rtl="0" algn="l">
              <a:spcBef>
                <a:spcPts val="90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SLP in LLVM vs. GCC</a:t>
            </a:r>
            <a:endParaRPr/>
          </a:p>
          <a:p>
            <a:pPr indent="-254000" lvl="1" marL="685800" rtl="0" algn="l">
              <a:spcBef>
                <a:spcPts val="90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SLP Overview in LLVM</a:t>
            </a:r>
            <a:endParaRPr/>
          </a:p>
          <a:p>
            <a:pPr indent="-266700" lvl="0" marL="342900" rtl="0" algn="l"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Cost Model in SLP Pass</a:t>
            </a:r>
            <a:endParaRPr/>
          </a:p>
          <a:p>
            <a:pPr indent="-254000" lvl="1" marL="685800" rtl="0" algn="l">
              <a:spcBef>
                <a:spcPts val="90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Cost Difference between RISC-V and ARM NEON</a:t>
            </a:r>
            <a:endParaRPr/>
          </a:p>
          <a:p>
            <a:pPr indent="-254000" lvl="1" marL="685800" rtl="0" algn="l">
              <a:spcBef>
                <a:spcPts val="90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Call Graph of Cost Calculation(non-GEP &amp;&amp; GEP)</a:t>
            </a:r>
            <a:endParaRPr/>
          </a:p>
          <a:p>
            <a:pPr indent="-266700" lvl="0" marL="342900" rtl="0" algn="l"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Support vload/vstore Instruction with offset in LLVM Backend</a:t>
            </a:r>
            <a:endParaRPr/>
          </a:p>
          <a:p>
            <a:pPr indent="-254000" lvl="1" marL="685800" rtl="0" algn="l">
              <a:spcBef>
                <a:spcPts val="90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Describing instructions</a:t>
            </a:r>
            <a:endParaRPr/>
          </a:p>
          <a:p>
            <a:pPr indent="-254000" lvl="1" marL="685800" rtl="0" algn="l">
              <a:spcBef>
                <a:spcPts val="90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Matching multiple DAG nodes</a:t>
            </a:r>
            <a:endParaRPr/>
          </a:p>
          <a:p>
            <a:pPr indent="-254000" lvl="1" marL="685800" rtl="0" algn="l">
              <a:spcBef>
                <a:spcPts val="90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Example</a:t>
            </a:r>
            <a:endParaRPr/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A1E"/>
              </a:buClr>
              <a:buSzPts val="2800"/>
              <a:buFont typeface="Calibri"/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143000" y="1295051"/>
            <a:ext cx="6858000" cy="16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Introduction of SLP</a:t>
            </a:r>
            <a:endParaRPr b="1" sz="3800"/>
          </a:p>
        </p:txBody>
      </p:sp>
      <p:pic>
        <p:nvPicPr>
          <p:cNvPr descr="民國86年申請服務標章的校徽"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145" y="3027773"/>
            <a:ext cx="1210446" cy="121044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Superword-level parallelism (cont.)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500850" y="1088275"/>
            <a:ext cx="82584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Superword Level Parallelism</a:t>
            </a:r>
            <a:r>
              <a:rPr lang="en" sz="1700"/>
              <a:t> is proposed in 2000.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Find parallelism within a basic-block</a:t>
            </a:r>
            <a:endParaRPr sz="17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b="1" lang="en" sz="1800">
                <a:solidFill>
                  <a:srgbClr val="595959"/>
                </a:solidFill>
              </a:rPr>
              <a:t>Isomorphic</a:t>
            </a:r>
            <a:r>
              <a:rPr lang="en" sz="1800">
                <a:solidFill>
                  <a:srgbClr val="595959"/>
                </a:solidFill>
              </a:rPr>
              <a:t> and </a:t>
            </a:r>
            <a:r>
              <a:rPr b="1" lang="en" sz="1800">
                <a:solidFill>
                  <a:srgbClr val="595959"/>
                </a:solidFill>
              </a:rPr>
              <a:t>independent</a:t>
            </a:r>
            <a:r>
              <a:rPr lang="en" sz="1800">
                <a:solidFill>
                  <a:srgbClr val="595959"/>
                </a:solidFill>
              </a:rPr>
              <a:t> statements can be vectorized.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5800" y="2463675"/>
            <a:ext cx="3530599" cy="19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950" y="2798050"/>
            <a:ext cx="4104546" cy="16069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Superword-level parallelism (cont.)</a:t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768900" y="987875"/>
            <a:ext cx="7882800" cy="25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2 Auto-Vectorizers: </a:t>
            </a:r>
            <a:r>
              <a:rPr lang="en" sz="1700">
                <a:solidFill>
                  <a:srgbClr val="FF0000"/>
                </a:solidFill>
              </a:rPr>
              <a:t>Loop Vectorizer Pass</a:t>
            </a:r>
            <a:r>
              <a:rPr lang="en" sz="1700">
                <a:solidFill>
                  <a:srgbClr val="000000"/>
                </a:solidFill>
              </a:rPr>
              <a:t> &amp; </a:t>
            </a:r>
            <a:r>
              <a:rPr lang="en" sz="1700">
                <a:solidFill>
                  <a:srgbClr val="FF0000"/>
                </a:solidFill>
              </a:rPr>
              <a:t>SLP Vectorizer Pass</a:t>
            </a:r>
            <a:endParaRPr sz="1700">
              <a:solidFill>
                <a:srgbClr val="FF0000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" sz="1700">
                <a:solidFill>
                  <a:srgbClr val="000000"/>
                </a:solidFill>
              </a:rPr>
              <a:t>Both are enabled by default (-Os, -O2, -O3)</a:t>
            </a:r>
            <a:endParaRPr sz="1700"/>
          </a:p>
          <a:p>
            <a:pPr indent="-336550" lvl="0" marL="457200" marR="63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Char char="●"/>
            </a:pPr>
            <a:r>
              <a:rPr lang="en" sz="1700"/>
              <a:t>It can be disabled through clang using the command line flag:</a:t>
            </a:r>
            <a:endParaRPr sz="1050"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68300" lvl="1" marL="914400" marR="63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○"/>
            </a:pPr>
            <a:r>
              <a:rPr lang="en" sz="1550"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clang</a:t>
            </a:r>
            <a:r>
              <a:rPr lang="en" sz="1550">
                <a:solidFill>
                  <a:srgbClr val="BBBBBB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550">
                <a:solidFill>
                  <a:srgbClr val="FF0000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-fno-slp-vectorize</a:t>
            </a:r>
            <a:r>
              <a:rPr lang="en" sz="1550">
                <a:solidFill>
                  <a:srgbClr val="BBBBBB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50"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file.c</a:t>
            </a:r>
            <a:endParaRPr sz="1550"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/>
              <a:t>Pass Pipeline: </a:t>
            </a:r>
            <a:r>
              <a:rPr lang="en" sz="1700">
                <a:solidFill>
                  <a:srgbClr val="FF0000"/>
                </a:solidFill>
              </a:rPr>
              <a:t>&lt;Loop Vec&gt; then &lt;SLP Vec&gt;</a:t>
            </a:r>
            <a:endParaRPr sz="1700">
              <a:solidFill>
                <a:srgbClr val="FF0000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" sz="17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llvm/lib/Passes/PassBuilderPipelines.cpp</a:t>
            </a:r>
            <a:endParaRPr sz="1050"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8800" y="3484325"/>
            <a:ext cx="5288558" cy="132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SLP &amp; Loop-Aware SLP</a:t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692700" y="847675"/>
            <a:ext cx="7688700" cy="30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8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Original </a:t>
            </a:r>
            <a:r>
              <a:rPr lang="en" sz="17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SLP</a:t>
            </a:r>
            <a:r>
              <a:rPr lang="en" sz="1700">
                <a:solidFill>
                  <a:srgbClr val="000000"/>
                </a:solidFill>
              </a:rPr>
              <a:t> 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" sz="1700">
                <a:solidFill>
                  <a:srgbClr val="000000"/>
                </a:solidFill>
              </a:rPr>
              <a:t>Find parallelism within basic-block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LLVM’s SLP Vectorizer is i</a:t>
            </a:r>
            <a:r>
              <a:rPr lang="en" sz="1700"/>
              <a:t>nspired by</a:t>
            </a:r>
            <a:r>
              <a:rPr lang="en" sz="1800" u="sng">
                <a:solidFill>
                  <a:srgbClr val="0097A7"/>
                </a:solidFill>
              </a:rPr>
              <a:t> </a:t>
            </a:r>
            <a:r>
              <a:rPr lang="en" sz="18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Loop-Aware SLP in GCC</a:t>
            </a:r>
            <a:endParaRPr sz="1700" u="sng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" sz="1700">
                <a:solidFill>
                  <a:srgbClr val="000000"/>
                </a:solidFill>
              </a:rPr>
              <a:t>Focus on SLP opportunity </a:t>
            </a:r>
            <a:r>
              <a:rPr lang="en" sz="1700"/>
              <a:t>“</a:t>
            </a:r>
            <a:r>
              <a:rPr lang="en" sz="1700">
                <a:solidFill>
                  <a:srgbClr val="000000"/>
                </a:solidFill>
              </a:rPr>
              <a:t>in</a:t>
            </a:r>
            <a:r>
              <a:rPr lang="en" sz="1700"/>
              <a:t>”</a:t>
            </a:r>
            <a:r>
              <a:rPr lang="en" sz="1700">
                <a:solidFill>
                  <a:srgbClr val="000000"/>
                </a:solidFill>
              </a:rPr>
              <a:t> loops, rather than any basic-block.</a:t>
            </a:r>
            <a:endParaRPr sz="1700"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9575" y="2435664"/>
            <a:ext cx="4308675" cy="211166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2495350" y="4477350"/>
            <a:ext cx="40029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135" u="sng">
                <a:solidFill>
                  <a:srgbClr val="0097A7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llvm/include/llvm/Transforms/Vectorize/SLPVectorizer.h</a:t>
            </a:r>
            <a:endParaRPr sz="1135">
              <a:solidFill>
                <a:srgbClr val="000000"/>
              </a:solidFill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1980275" y="3894475"/>
            <a:ext cx="5031000" cy="465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SLP in LLVM vs. GCC</a:t>
            </a:r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1139757" y="1211800"/>
            <a:ext cx="1065300" cy="1711200"/>
          </a:xfrm>
          <a:prstGeom prst="rect">
            <a:avLst/>
          </a:prstGeom>
          <a:solidFill>
            <a:srgbClr val="E9ED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Loop-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vectorize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2510619" y="1211800"/>
            <a:ext cx="1065300" cy="1711200"/>
          </a:xfrm>
          <a:prstGeom prst="rect">
            <a:avLst/>
          </a:prstGeom>
          <a:solidFill>
            <a:srgbClr val="E9ED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SLP-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vectorize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5382348" y="1211853"/>
            <a:ext cx="2448900" cy="1711200"/>
          </a:xfrm>
          <a:prstGeom prst="rect">
            <a:avLst/>
          </a:prstGeom>
          <a:solidFill>
            <a:srgbClr val="E9ED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Loop-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vectorize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5732759" y="2108705"/>
            <a:ext cx="1838100" cy="486900"/>
          </a:xfrm>
          <a:prstGeom prst="rect">
            <a:avLst/>
          </a:prstGeom>
          <a:solidFill>
            <a:srgbClr val="E9ED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SLP-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vectorize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1815219" y="3039944"/>
            <a:ext cx="14649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LLVM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6300054" y="3039944"/>
            <a:ext cx="13257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GCC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410325" y="3610662"/>
            <a:ext cx="47208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Different Passes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Find parallelism within </a:t>
            </a:r>
            <a:r>
              <a:rPr lang="en">
                <a:solidFill>
                  <a:srgbClr val="FF0000"/>
                </a:solidFill>
              </a:rPr>
              <a:t>any basic-block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4870349" y="3610344"/>
            <a:ext cx="3758400" cy="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Integration into the same pass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Find SLP opportunity </a:t>
            </a:r>
            <a:r>
              <a:rPr lang="en">
                <a:solidFill>
                  <a:srgbClr val="FF0000"/>
                </a:solidFill>
              </a:rPr>
              <a:t>in loops</a:t>
            </a:r>
            <a:r>
              <a:rPr lang="en"/>
              <a:t>, rather than any basic-block.</a:t>
            </a:r>
            <a:endParaRPr/>
          </a:p>
        </p:txBody>
      </p:sp>
      <p:cxnSp>
        <p:nvCxnSpPr>
          <p:cNvPr id="121" name="Google Shape;121;p20"/>
          <p:cNvCxnSpPr>
            <a:stCxn id="113" idx="3"/>
            <a:endCxn id="114" idx="1"/>
          </p:cNvCxnSpPr>
          <p:nvPr/>
        </p:nvCxnSpPr>
        <p:spPr>
          <a:xfrm>
            <a:off x="2205057" y="2067400"/>
            <a:ext cx="3057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20"/>
          <p:cNvCxnSpPr/>
          <p:nvPr/>
        </p:nvCxnSpPr>
        <p:spPr>
          <a:xfrm>
            <a:off x="834222" y="2067400"/>
            <a:ext cx="3054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20"/>
          <p:cNvCxnSpPr/>
          <p:nvPr/>
        </p:nvCxnSpPr>
        <p:spPr>
          <a:xfrm>
            <a:off x="3575946" y="2067400"/>
            <a:ext cx="3054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SLP Overview - Header</a:t>
            </a: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2108625" y="4483725"/>
            <a:ext cx="54159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535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llvm/include/llvm/Transforms/Vectorize/SLPVectorizer.h</a:t>
            </a:r>
            <a:endParaRPr sz="1535">
              <a:solidFill>
                <a:srgbClr val="000000"/>
              </a:solidFill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9300" y="1062100"/>
            <a:ext cx="6347349" cy="34613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21"/>
          <p:cNvCxnSpPr/>
          <p:nvPr/>
        </p:nvCxnSpPr>
        <p:spPr>
          <a:xfrm flipH="1">
            <a:off x="2632075" y="2713075"/>
            <a:ext cx="459600" cy="1368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21"/>
          <p:cNvSpPr txBox="1"/>
          <p:nvPr/>
        </p:nvSpPr>
        <p:spPr>
          <a:xfrm>
            <a:off x="4863100" y="1376000"/>
            <a:ext cx="275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9900"/>
                </a:solidFill>
              </a:rPr>
              <a:t>inherit from the PassInfoMixin!</a:t>
            </a:r>
            <a:endParaRPr b="1" sz="1100">
              <a:solidFill>
                <a:srgbClr val="FF9900"/>
              </a:solidFill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3491500" y="2061800"/>
            <a:ext cx="275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9900"/>
                </a:solidFill>
              </a:rPr>
              <a:t>Run is an Entry point for each pass</a:t>
            </a:r>
            <a:endParaRPr b="1" sz="1100">
              <a:solidFill>
                <a:srgbClr val="FF9900"/>
              </a:solidFill>
            </a:endParaRPr>
          </a:p>
        </p:txBody>
      </p:sp>
      <p:cxnSp>
        <p:nvCxnSpPr>
          <p:cNvPr id="135" name="Google Shape;135;p21"/>
          <p:cNvCxnSpPr/>
          <p:nvPr/>
        </p:nvCxnSpPr>
        <p:spPr>
          <a:xfrm flipH="1">
            <a:off x="5540550" y="1689475"/>
            <a:ext cx="274200" cy="208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21"/>
          <p:cNvCxnSpPr/>
          <p:nvPr/>
        </p:nvCxnSpPr>
        <p:spPr>
          <a:xfrm flipH="1">
            <a:off x="3434750" y="2347500"/>
            <a:ext cx="362100" cy="1647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21"/>
          <p:cNvSpPr txBox="1"/>
          <p:nvPr/>
        </p:nvSpPr>
        <p:spPr>
          <a:xfrm>
            <a:off x="3056550" y="2619225"/>
            <a:ext cx="275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9900"/>
                </a:solidFill>
              </a:rPr>
              <a:t>Call this function</a:t>
            </a:r>
            <a:endParaRPr b="1" sz="1100">
              <a:solidFill>
                <a:srgbClr val="FF9900"/>
              </a:solidFill>
            </a:endParaRPr>
          </a:p>
        </p:txBody>
      </p: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SLP Overview - run</a:t>
            </a:r>
            <a:endParaRPr/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775" y="795952"/>
            <a:ext cx="6415800" cy="358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1833225" y="4342375"/>
            <a:ext cx="492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69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llvm/lib/Transforms/Vectorize/SLPVectorizer.cpp</a:t>
            </a:r>
            <a:endParaRPr sz="16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690">
              <a:solidFill>
                <a:srgbClr val="000000"/>
              </a:solidFill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4329300" y="3205100"/>
            <a:ext cx="2700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time-saving: because nothing changes,</a:t>
            </a:r>
            <a:endParaRPr sz="11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there is no need to reanalyze code.</a:t>
            </a:r>
            <a:endParaRPr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SLP Overview - runImpl</a:t>
            </a:r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8200" y="1890500"/>
            <a:ext cx="6204901" cy="22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 txBox="1"/>
          <p:nvPr/>
        </p:nvSpPr>
        <p:spPr>
          <a:xfrm>
            <a:off x="2061825" y="4266175"/>
            <a:ext cx="492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69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llvm/lib/Transforms/Vectorize/SLPVectorizer.cpp</a:t>
            </a:r>
            <a:endParaRPr sz="16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690">
              <a:solidFill>
                <a:srgbClr val="000000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817675" y="997903"/>
            <a:ext cx="76887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Lato"/>
              <a:buChar char="●"/>
            </a:pPr>
            <a:r>
              <a:rPr lang="en" sz="17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Clear the previously stored information.</a:t>
            </a:r>
            <a:endParaRPr sz="17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Lato"/>
              <a:buChar char="●"/>
            </a:pPr>
            <a:r>
              <a:rPr lang="en" sz="17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Initialize the BoUpSLP object R.</a:t>
            </a:r>
            <a:endParaRPr sz="17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SLP Overview - runImpl</a:t>
            </a:r>
            <a:endParaRPr/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100" y="778175"/>
            <a:ext cx="6076613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/>
          <p:nvPr/>
        </p:nvSpPr>
        <p:spPr>
          <a:xfrm>
            <a:off x="1140625" y="1155000"/>
            <a:ext cx="2413200" cy="32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1303950" y="1965900"/>
            <a:ext cx="2972400" cy="224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/>
          <p:nvPr/>
        </p:nvSpPr>
        <p:spPr>
          <a:xfrm>
            <a:off x="1193575" y="2753300"/>
            <a:ext cx="3378300" cy="224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/>
          <p:nvPr/>
        </p:nvSpPr>
        <p:spPr>
          <a:xfrm>
            <a:off x="1303950" y="3956750"/>
            <a:ext cx="3378300" cy="224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4758450" y="1078788"/>
            <a:ext cx="4017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all candidate instructions for vectorization</a:t>
            </a:r>
            <a:endParaRPr/>
          </a:p>
        </p:txBody>
      </p:sp>
      <p:sp>
        <p:nvSpPr>
          <p:cNvPr id="168" name="Google Shape;168;p24"/>
          <p:cNvSpPr txBox="1"/>
          <p:nvPr/>
        </p:nvSpPr>
        <p:spPr>
          <a:xfrm>
            <a:off x="4119225" y="303775"/>
            <a:ext cx="492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n" sz="169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llvm/lib/Transforms/Vectorize/SLPVectorizer.cpp</a:t>
            </a:r>
            <a:endParaRPr sz="1690">
              <a:solidFill>
                <a:srgbClr val="000000"/>
              </a:solidFill>
            </a:endParaRPr>
          </a:p>
        </p:txBody>
      </p:sp>
      <p:cxnSp>
        <p:nvCxnSpPr>
          <p:cNvPr id="169" name="Google Shape;169;p24"/>
          <p:cNvCxnSpPr>
            <a:endCxn id="163" idx="3"/>
          </p:cNvCxnSpPr>
          <p:nvPr/>
        </p:nvCxnSpPr>
        <p:spPr>
          <a:xfrm flipH="1">
            <a:off x="3553825" y="1269600"/>
            <a:ext cx="1191900" cy="480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24"/>
          <p:cNvSpPr/>
          <p:nvPr/>
        </p:nvSpPr>
        <p:spPr>
          <a:xfrm>
            <a:off x="993825" y="1541425"/>
            <a:ext cx="6154800" cy="28071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4954025" y="2178813"/>
            <a:ext cx="21849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three different scenarios</a:t>
            </a:r>
            <a:endParaRPr sz="13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SLP Overview - View Tree</a:t>
            </a:r>
            <a:endParaRPr/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675" y="895050"/>
            <a:ext cx="5180952" cy="384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5"/>
          <p:cNvSpPr txBox="1"/>
          <p:nvPr/>
        </p:nvSpPr>
        <p:spPr>
          <a:xfrm>
            <a:off x="7104700" y="4230750"/>
            <a:ext cx="16281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Loop-Aware SLP in GCC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1143000" y="1295051"/>
            <a:ext cx="6858000" cy="16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LLVM Cost Model </a:t>
            </a:r>
            <a:endParaRPr b="1" sz="3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in SLP Pass</a:t>
            </a:r>
            <a:endParaRPr b="1" sz="3800"/>
          </a:p>
        </p:txBody>
      </p:sp>
      <p:pic>
        <p:nvPicPr>
          <p:cNvPr descr="民國86年申請服務標章的校徽" id="186" name="Google Shape;1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145" y="3027773"/>
            <a:ext cx="1210446" cy="121044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Difference between RISC-V and ARM NEON </a:t>
            </a:r>
            <a:endParaRPr/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000" y="3731950"/>
            <a:ext cx="8739550" cy="54081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/>
          <p:nvPr/>
        </p:nvSpPr>
        <p:spPr>
          <a:xfrm>
            <a:off x="464100" y="835475"/>
            <a:ext cx="78828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-Rpass=slp-vectorizer</a:t>
            </a:r>
            <a:r>
              <a:rPr lang="en" sz="1500"/>
              <a:t> identifies SLP patterns that were successfully vectorized.</a:t>
            </a:r>
            <a:endParaRPr sz="1500"/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8650" y="1865975"/>
            <a:ext cx="2152548" cy="162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4893" y="2022872"/>
            <a:ext cx="4563282" cy="1415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7675" y="1295400"/>
            <a:ext cx="4563278" cy="65700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7"/>
          <p:cNvSpPr txBox="1"/>
          <p:nvPr/>
        </p:nvSpPr>
        <p:spPr>
          <a:xfrm>
            <a:off x="5869625" y="1286100"/>
            <a:ext cx="29241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https://llvm.org/docs/Remarks.html#remark-diagnostics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/>
          <p:nvPr/>
        </p:nvSpPr>
        <p:spPr>
          <a:xfrm>
            <a:off x="6222450" y="977825"/>
            <a:ext cx="2803800" cy="33630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7122875" y="4063625"/>
            <a:ext cx="11604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TTIImpl</a:t>
            </a:r>
            <a:endParaRPr b="1" sz="1600"/>
          </a:p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Graph of Cost Calculation(non-GEP &amp;&amp; GEP)</a:t>
            </a:r>
            <a:endParaRPr/>
          </a:p>
        </p:txBody>
      </p:sp>
      <p:sp>
        <p:nvSpPr>
          <p:cNvPr id="207" name="Google Shape;207;p28"/>
          <p:cNvSpPr/>
          <p:nvPr/>
        </p:nvSpPr>
        <p:spPr>
          <a:xfrm>
            <a:off x="88650" y="977825"/>
            <a:ext cx="4652700" cy="3363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1712675" y="4063625"/>
            <a:ext cx="11604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SLP</a:t>
            </a:r>
            <a:endParaRPr b="1" sz="1600"/>
          </a:p>
        </p:txBody>
      </p:sp>
      <p:sp>
        <p:nvSpPr>
          <p:cNvPr id="209" name="Google Shape;209;p28"/>
          <p:cNvSpPr/>
          <p:nvPr/>
        </p:nvSpPr>
        <p:spPr>
          <a:xfrm>
            <a:off x="1861075" y="2045800"/>
            <a:ext cx="1531200" cy="1047300"/>
          </a:xfrm>
          <a:prstGeom prst="rect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1997385" y="2156775"/>
            <a:ext cx="1227900" cy="3576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GetCostDiff</a:t>
            </a:r>
            <a:endParaRPr sz="900"/>
          </a:p>
        </p:txBody>
      </p:sp>
      <p:sp>
        <p:nvSpPr>
          <p:cNvPr id="211" name="Google Shape;211;p28"/>
          <p:cNvSpPr/>
          <p:nvPr/>
        </p:nvSpPr>
        <p:spPr>
          <a:xfrm>
            <a:off x="1997385" y="2613975"/>
            <a:ext cx="1227900" cy="3576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GetGEPCostDiff</a:t>
            </a:r>
            <a:endParaRPr sz="900"/>
          </a:p>
        </p:txBody>
      </p:sp>
      <p:sp>
        <p:nvSpPr>
          <p:cNvPr id="212" name="Google Shape;212;p28"/>
          <p:cNvSpPr/>
          <p:nvPr/>
        </p:nvSpPr>
        <p:spPr>
          <a:xfrm>
            <a:off x="513075" y="1248100"/>
            <a:ext cx="1131300" cy="3576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GetTreeCost</a:t>
            </a:r>
            <a:endParaRPr sz="900"/>
          </a:p>
        </p:txBody>
      </p:sp>
      <p:sp>
        <p:nvSpPr>
          <p:cNvPr id="213" name="Google Shape;213;p28"/>
          <p:cNvSpPr/>
          <p:nvPr/>
        </p:nvSpPr>
        <p:spPr>
          <a:xfrm>
            <a:off x="483825" y="3087400"/>
            <a:ext cx="1160400" cy="357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SpillCost</a:t>
            </a:r>
            <a:endParaRPr sz="900"/>
          </a:p>
        </p:txBody>
      </p:sp>
      <p:sp>
        <p:nvSpPr>
          <p:cNvPr id="214" name="Google Shape;214;p28"/>
          <p:cNvSpPr/>
          <p:nvPr/>
        </p:nvSpPr>
        <p:spPr>
          <a:xfrm>
            <a:off x="483825" y="3697000"/>
            <a:ext cx="1160400" cy="357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ExtractCost</a:t>
            </a:r>
            <a:endParaRPr sz="900"/>
          </a:p>
        </p:txBody>
      </p:sp>
      <p:sp>
        <p:nvSpPr>
          <p:cNvPr id="215" name="Google Shape;215;p28"/>
          <p:cNvSpPr/>
          <p:nvPr/>
        </p:nvSpPr>
        <p:spPr>
          <a:xfrm>
            <a:off x="483825" y="2401600"/>
            <a:ext cx="1160400" cy="3576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getEntryCost</a:t>
            </a:r>
            <a:endParaRPr sz="900"/>
          </a:p>
        </p:txBody>
      </p:sp>
      <p:cxnSp>
        <p:nvCxnSpPr>
          <p:cNvPr id="216" name="Google Shape;216;p28"/>
          <p:cNvCxnSpPr>
            <a:stCxn id="215" idx="3"/>
            <a:endCxn id="209" idx="1"/>
          </p:cNvCxnSpPr>
          <p:nvPr/>
        </p:nvCxnSpPr>
        <p:spPr>
          <a:xfrm flipH="1" rot="10800000">
            <a:off x="1644225" y="2569600"/>
            <a:ext cx="216900" cy="1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28"/>
          <p:cNvCxnSpPr>
            <a:stCxn id="212" idx="2"/>
            <a:endCxn id="215" idx="1"/>
          </p:cNvCxnSpPr>
          <p:nvPr/>
        </p:nvCxnSpPr>
        <p:spPr>
          <a:xfrm rot="5400000">
            <a:off x="293925" y="1795600"/>
            <a:ext cx="974700" cy="594900"/>
          </a:xfrm>
          <a:prstGeom prst="bentConnector4">
            <a:avLst>
              <a:gd fmla="val 40828" name="adj1"/>
              <a:gd fmla="val 140028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28"/>
          <p:cNvCxnSpPr>
            <a:stCxn id="212" idx="2"/>
            <a:endCxn id="213" idx="1"/>
          </p:cNvCxnSpPr>
          <p:nvPr/>
        </p:nvCxnSpPr>
        <p:spPr>
          <a:xfrm rot="5400000">
            <a:off x="-48975" y="2138500"/>
            <a:ext cx="1660500" cy="594900"/>
          </a:xfrm>
          <a:prstGeom prst="bentConnector4">
            <a:avLst>
              <a:gd fmla="val 23948" name="adj1"/>
              <a:gd fmla="val 140028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28"/>
          <p:cNvCxnSpPr>
            <a:stCxn id="212" idx="2"/>
            <a:endCxn id="214" idx="1"/>
          </p:cNvCxnSpPr>
          <p:nvPr/>
        </p:nvCxnSpPr>
        <p:spPr>
          <a:xfrm rot="5400000">
            <a:off x="-353775" y="2443300"/>
            <a:ext cx="2270100" cy="594900"/>
          </a:xfrm>
          <a:prstGeom prst="bentConnector4">
            <a:avLst>
              <a:gd fmla="val 17517" name="adj1"/>
              <a:gd fmla="val 140028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8"/>
          <p:cNvSpPr txBox="1"/>
          <p:nvPr/>
        </p:nvSpPr>
        <p:spPr>
          <a:xfrm>
            <a:off x="1750900" y="1783300"/>
            <a:ext cx="1653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Case: Instruction type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3597575" y="2613975"/>
            <a:ext cx="1008600" cy="3576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GetGEPCosts</a:t>
            </a:r>
            <a:endParaRPr sz="900"/>
          </a:p>
        </p:txBody>
      </p:sp>
      <p:cxnSp>
        <p:nvCxnSpPr>
          <p:cNvPr id="222" name="Google Shape;222;p28"/>
          <p:cNvCxnSpPr>
            <a:stCxn id="211" idx="3"/>
            <a:endCxn id="221" idx="1"/>
          </p:cNvCxnSpPr>
          <p:nvPr/>
        </p:nvCxnSpPr>
        <p:spPr>
          <a:xfrm>
            <a:off x="3225285" y="2792775"/>
            <a:ext cx="372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28"/>
          <p:cNvSpPr/>
          <p:nvPr/>
        </p:nvSpPr>
        <p:spPr>
          <a:xfrm>
            <a:off x="4810200" y="977825"/>
            <a:ext cx="1343400" cy="3363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5357650" y="787025"/>
            <a:ext cx="1160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4865700" y="4063625"/>
            <a:ext cx="11604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TTI</a:t>
            </a:r>
            <a:endParaRPr b="1" sz="1600"/>
          </a:p>
        </p:txBody>
      </p:sp>
      <p:sp>
        <p:nvSpPr>
          <p:cNvPr id="226" name="Google Shape;226;p28"/>
          <p:cNvSpPr/>
          <p:nvPr/>
        </p:nvSpPr>
        <p:spPr>
          <a:xfrm>
            <a:off x="4901712" y="2605325"/>
            <a:ext cx="1160400" cy="3576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getPointers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ChainCost</a:t>
            </a:r>
            <a:endParaRPr sz="900"/>
          </a:p>
        </p:txBody>
      </p:sp>
      <p:sp>
        <p:nvSpPr>
          <p:cNvPr id="227" name="Google Shape;227;p28"/>
          <p:cNvSpPr/>
          <p:nvPr/>
        </p:nvSpPr>
        <p:spPr>
          <a:xfrm>
            <a:off x="3858925" y="1591000"/>
            <a:ext cx="747300" cy="3576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ScalarCost</a:t>
            </a:r>
            <a:endParaRPr sz="900"/>
          </a:p>
        </p:txBody>
      </p:sp>
      <p:sp>
        <p:nvSpPr>
          <p:cNvPr id="228" name="Google Shape;228;p28"/>
          <p:cNvSpPr/>
          <p:nvPr/>
        </p:nvSpPr>
        <p:spPr>
          <a:xfrm>
            <a:off x="3858925" y="2080575"/>
            <a:ext cx="747300" cy="3576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VectorCost</a:t>
            </a:r>
            <a:endParaRPr sz="900"/>
          </a:p>
        </p:txBody>
      </p:sp>
      <p:cxnSp>
        <p:nvCxnSpPr>
          <p:cNvPr id="229" name="Google Shape;229;p28"/>
          <p:cNvCxnSpPr>
            <a:stCxn id="210" idx="3"/>
            <a:endCxn id="228" idx="1"/>
          </p:cNvCxnSpPr>
          <p:nvPr/>
        </p:nvCxnSpPr>
        <p:spPr>
          <a:xfrm flipH="1" rot="10800000">
            <a:off x="3225285" y="2259375"/>
            <a:ext cx="633600" cy="762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8"/>
          <p:cNvCxnSpPr>
            <a:stCxn id="210" idx="3"/>
            <a:endCxn id="227" idx="1"/>
          </p:cNvCxnSpPr>
          <p:nvPr/>
        </p:nvCxnSpPr>
        <p:spPr>
          <a:xfrm flipH="1" rot="10800000">
            <a:off x="3225285" y="1769775"/>
            <a:ext cx="633600" cy="5658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8"/>
          <p:cNvCxnSpPr>
            <a:stCxn id="221" idx="3"/>
            <a:endCxn id="226" idx="1"/>
          </p:cNvCxnSpPr>
          <p:nvPr/>
        </p:nvCxnSpPr>
        <p:spPr>
          <a:xfrm flipH="1" rot="10800000">
            <a:off x="4606175" y="2784075"/>
            <a:ext cx="295500" cy="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28"/>
          <p:cNvCxnSpPr/>
          <p:nvPr/>
        </p:nvCxnSpPr>
        <p:spPr>
          <a:xfrm>
            <a:off x="4606275" y="1755988"/>
            <a:ext cx="302100" cy="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8"/>
          <p:cNvCxnSpPr/>
          <p:nvPr/>
        </p:nvCxnSpPr>
        <p:spPr>
          <a:xfrm>
            <a:off x="4606175" y="2259375"/>
            <a:ext cx="310200" cy="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" name="Google Shape;234;p28"/>
          <p:cNvSpPr/>
          <p:nvPr/>
        </p:nvSpPr>
        <p:spPr>
          <a:xfrm>
            <a:off x="6375275" y="1995700"/>
            <a:ext cx="1160400" cy="4425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BaseT::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getPointers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ChainCost</a:t>
            </a:r>
            <a:endParaRPr sz="900"/>
          </a:p>
        </p:txBody>
      </p:sp>
      <p:sp>
        <p:nvSpPr>
          <p:cNvPr id="235" name="Google Shape;235;p28"/>
          <p:cNvSpPr/>
          <p:nvPr/>
        </p:nvSpPr>
        <p:spPr>
          <a:xfrm>
            <a:off x="6375275" y="3367300"/>
            <a:ext cx="1160400" cy="4425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RISCV::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getPointers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ChainCost</a:t>
            </a:r>
            <a:endParaRPr sz="900"/>
          </a:p>
        </p:txBody>
      </p:sp>
      <p:cxnSp>
        <p:nvCxnSpPr>
          <p:cNvPr id="236" name="Google Shape;236;p28"/>
          <p:cNvCxnSpPr>
            <a:stCxn id="226" idx="3"/>
            <a:endCxn id="234" idx="1"/>
          </p:cNvCxnSpPr>
          <p:nvPr/>
        </p:nvCxnSpPr>
        <p:spPr>
          <a:xfrm flipH="1" rot="10800000">
            <a:off x="6062112" y="2216825"/>
            <a:ext cx="313200" cy="56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28"/>
          <p:cNvCxnSpPr>
            <a:stCxn id="226" idx="3"/>
            <a:endCxn id="235" idx="1"/>
          </p:cNvCxnSpPr>
          <p:nvPr/>
        </p:nvCxnSpPr>
        <p:spPr>
          <a:xfrm>
            <a:off x="6062112" y="2784125"/>
            <a:ext cx="313200" cy="8043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28"/>
          <p:cNvSpPr txBox="1"/>
          <p:nvPr/>
        </p:nvSpPr>
        <p:spPr>
          <a:xfrm>
            <a:off x="7016925" y="1384425"/>
            <a:ext cx="1343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static_cast&lt;</a:t>
            </a:r>
            <a:r>
              <a:rPr lang="en" sz="900" u="sng">
                <a:solidFill>
                  <a:srgbClr val="00966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r>
              <a:rPr lang="en" sz="900"/>
              <a:t> *&gt;(this)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28"/>
          <p:cNvCxnSpPr>
            <a:endCxn id="238" idx="1"/>
          </p:cNvCxnSpPr>
          <p:nvPr/>
        </p:nvCxnSpPr>
        <p:spPr>
          <a:xfrm flipH="1" rot="5400000">
            <a:off x="6842175" y="1654575"/>
            <a:ext cx="522300" cy="172800"/>
          </a:xfrm>
          <a:prstGeom prst="curvedConnector4">
            <a:avLst>
              <a:gd fmla="val 40867" name="adj1"/>
              <a:gd fmla="val 237804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" name="Google Shape;240;p28"/>
          <p:cNvSpPr/>
          <p:nvPr/>
        </p:nvSpPr>
        <p:spPr>
          <a:xfrm>
            <a:off x="7746875" y="1995700"/>
            <a:ext cx="1160400" cy="4425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AArch::get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ArithmeticInstrCost</a:t>
            </a:r>
            <a:endParaRPr sz="900"/>
          </a:p>
        </p:txBody>
      </p:sp>
      <p:sp>
        <p:nvSpPr>
          <p:cNvPr id="241" name="Google Shape;241;p28"/>
          <p:cNvSpPr/>
          <p:nvPr/>
        </p:nvSpPr>
        <p:spPr>
          <a:xfrm>
            <a:off x="4901712" y="2071925"/>
            <a:ext cx="1160400" cy="357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Some Interface</a:t>
            </a:r>
            <a:endParaRPr sz="900"/>
          </a:p>
        </p:txBody>
      </p:sp>
      <p:sp>
        <p:nvSpPr>
          <p:cNvPr id="242" name="Google Shape;242;p28"/>
          <p:cNvSpPr/>
          <p:nvPr/>
        </p:nvSpPr>
        <p:spPr>
          <a:xfrm>
            <a:off x="4901712" y="1572850"/>
            <a:ext cx="1160400" cy="357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Some Interface</a:t>
            </a:r>
            <a:endParaRPr sz="900"/>
          </a:p>
        </p:txBody>
      </p:sp>
      <p:sp>
        <p:nvSpPr>
          <p:cNvPr id="243" name="Google Shape;243;p28"/>
          <p:cNvSpPr/>
          <p:nvPr/>
        </p:nvSpPr>
        <p:spPr>
          <a:xfrm>
            <a:off x="7757350" y="3367300"/>
            <a:ext cx="1160400" cy="4425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RISCV::get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ArithmeticInstrCost</a:t>
            </a:r>
            <a:endParaRPr sz="900"/>
          </a:p>
        </p:txBody>
      </p:sp>
      <p:cxnSp>
        <p:nvCxnSpPr>
          <p:cNvPr id="244" name="Google Shape;244;p28"/>
          <p:cNvCxnSpPr>
            <a:stCxn id="235" idx="3"/>
            <a:endCxn id="243" idx="1"/>
          </p:cNvCxnSpPr>
          <p:nvPr/>
        </p:nvCxnSpPr>
        <p:spPr>
          <a:xfrm>
            <a:off x="7535675" y="3588550"/>
            <a:ext cx="221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28"/>
          <p:cNvSpPr/>
          <p:nvPr/>
        </p:nvSpPr>
        <p:spPr>
          <a:xfrm>
            <a:off x="7746875" y="2719600"/>
            <a:ext cx="1160400" cy="4425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BaseT::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getGEPCost</a:t>
            </a:r>
            <a:endParaRPr sz="900"/>
          </a:p>
        </p:txBody>
      </p:sp>
      <p:cxnSp>
        <p:nvCxnSpPr>
          <p:cNvPr id="246" name="Google Shape;246;p28"/>
          <p:cNvCxnSpPr>
            <a:stCxn id="234" idx="3"/>
            <a:endCxn id="245" idx="1"/>
          </p:cNvCxnSpPr>
          <p:nvPr/>
        </p:nvCxnSpPr>
        <p:spPr>
          <a:xfrm>
            <a:off x="7535675" y="2216950"/>
            <a:ext cx="211200" cy="7239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28"/>
          <p:cNvCxnSpPr>
            <a:stCxn id="235" idx="3"/>
            <a:endCxn id="245" idx="1"/>
          </p:cNvCxnSpPr>
          <p:nvPr/>
        </p:nvCxnSpPr>
        <p:spPr>
          <a:xfrm flipH="1" rot="10800000">
            <a:off x="7535675" y="2940850"/>
            <a:ext cx="211200" cy="647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28"/>
          <p:cNvSpPr txBox="1"/>
          <p:nvPr/>
        </p:nvSpPr>
        <p:spPr>
          <a:xfrm>
            <a:off x="2170200" y="2348300"/>
            <a:ext cx="9540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(Non-GEP)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8"/>
          <p:cNvSpPr txBox="1"/>
          <p:nvPr/>
        </p:nvSpPr>
        <p:spPr>
          <a:xfrm>
            <a:off x="2170200" y="2805500"/>
            <a:ext cx="9540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(GEP)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28"/>
          <p:cNvCxnSpPr>
            <a:stCxn id="238" idx="3"/>
            <a:endCxn id="240" idx="0"/>
          </p:cNvCxnSpPr>
          <p:nvPr/>
        </p:nvCxnSpPr>
        <p:spPr>
          <a:xfrm flipH="1">
            <a:off x="8327025" y="1479825"/>
            <a:ext cx="33300" cy="516000"/>
          </a:xfrm>
          <a:prstGeom prst="curvedConnector4">
            <a:avLst>
              <a:gd fmla="val -715090" name="adj1"/>
              <a:gd fmla="val 5923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28"/>
          <p:cNvSpPr txBox="1"/>
          <p:nvPr/>
        </p:nvSpPr>
        <p:spPr>
          <a:xfrm>
            <a:off x="174975" y="4399975"/>
            <a:ext cx="2774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LLVM 19.1.0-rc3(Aug 20, 2024)</a:t>
            </a:r>
            <a:endParaRPr/>
          </a:p>
        </p:txBody>
      </p:sp>
      <p:sp>
        <p:nvSpPr>
          <p:cNvPr id="252" name="Google Shape;252;p28"/>
          <p:cNvSpPr txBox="1"/>
          <p:nvPr/>
        </p:nvSpPr>
        <p:spPr>
          <a:xfrm>
            <a:off x="303100" y="945100"/>
            <a:ext cx="1653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building a tree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9"/>
          <p:cNvPicPr preferRelativeResize="0"/>
          <p:nvPr/>
        </p:nvPicPr>
        <p:blipFill rotWithShape="1">
          <a:blip r:embed="rId3">
            <a:alphaModFix/>
          </a:blip>
          <a:srcRect b="0" l="0" r="16597" t="0"/>
          <a:stretch/>
        </p:blipFill>
        <p:spPr>
          <a:xfrm>
            <a:off x="4975100" y="2133600"/>
            <a:ext cx="1835274" cy="229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9"/>
          <p:cNvPicPr preferRelativeResize="0"/>
          <p:nvPr/>
        </p:nvPicPr>
        <p:blipFill rotWithShape="1">
          <a:blip r:embed="rId4">
            <a:alphaModFix/>
          </a:blip>
          <a:srcRect b="0" l="0" r="19054" t="0"/>
          <a:stretch/>
        </p:blipFill>
        <p:spPr>
          <a:xfrm>
            <a:off x="6882873" y="2124300"/>
            <a:ext cx="1781175" cy="2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9"/>
          <p:cNvPicPr preferRelativeResize="0"/>
          <p:nvPr/>
        </p:nvPicPr>
        <p:blipFill rotWithShape="1">
          <a:blip r:embed="rId5">
            <a:alphaModFix/>
          </a:blip>
          <a:srcRect b="0" l="0" r="19445" t="0"/>
          <a:stretch/>
        </p:blipFill>
        <p:spPr>
          <a:xfrm>
            <a:off x="518225" y="2218300"/>
            <a:ext cx="1781175" cy="229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9"/>
          <p:cNvPicPr preferRelativeResize="0"/>
          <p:nvPr/>
        </p:nvPicPr>
        <p:blipFill rotWithShape="1">
          <a:blip r:embed="rId6">
            <a:alphaModFix/>
          </a:blip>
          <a:srcRect b="0" l="0" r="16998" t="0"/>
          <a:stretch/>
        </p:blipFill>
        <p:spPr>
          <a:xfrm>
            <a:off x="2401050" y="2218300"/>
            <a:ext cx="1835276" cy="255014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9"/>
          <p:cNvSpPr/>
          <p:nvPr/>
        </p:nvSpPr>
        <p:spPr>
          <a:xfrm>
            <a:off x="5085250" y="3272525"/>
            <a:ext cx="1082100" cy="249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6993025" y="3807900"/>
            <a:ext cx="1082100" cy="249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4" name="Google Shape;264;p29"/>
          <p:cNvPicPr preferRelativeResize="0"/>
          <p:nvPr/>
        </p:nvPicPr>
        <p:blipFill rotWithShape="1">
          <a:blip r:embed="rId7">
            <a:alphaModFix/>
          </a:blip>
          <a:srcRect b="4959" l="52406" r="2270" t="40236"/>
          <a:stretch/>
        </p:blipFill>
        <p:spPr>
          <a:xfrm>
            <a:off x="5085250" y="361950"/>
            <a:ext cx="3408122" cy="17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9"/>
          <p:cNvPicPr preferRelativeResize="0"/>
          <p:nvPr/>
        </p:nvPicPr>
        <p:blipFill rotWithShape="1">
          <a:blip r:embed="rId7">
            <a:alphaModFix/>
          </a:blip>
          <a:srcRect b="4318" l="2422" r="52880" t="39158"/>
          <a:stretch/>
        </p:blipFill>
        <p:spPr>
          <a:xfrm>
            <a:off x="684675" y="361950"/>
            <a:ext cx="3259282" cy="172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9"/>
          <p:cNvSpPr txBox="1"/>
          <p:nvPr/>
        </p:nvSpPr>
        <p:spPr>
          <a:xfrm>
            <a:off x="1897600" y="-19225"/>
            <a:ext cx="1146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D85C6"/>
                </a:solidFill>
                <a:latin typeface="Open Sans"/>
                <a:ea typeface="Open Sans"/>
                <a:cs typeface="Open Sans"/>
                <a:sym typeface="Open Sans"/>
              </a:rPr>
              <a:t>AArch64</a:t>
            </a:r>
            <a:endParaRPr b="1" sz="1800">
              <a:solidFill>
                <a:srgbClr val="3D85C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6402331" y="1300"/>
            <a:ext cx="1146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RISCV</a:t>
            </a:r>
            <a:endParaRPr b="1" sz="1800">
              <a:solidFill>
                <a:srgbClr val="FF99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665650" y="3348725"/>
            <a:ext cx="1082100" cy="249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2497225" y="3884100"/>
            <a:ext cx="1082100" cy="249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0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TargetCostConstants(TTI::TCC)</a:t>
            </a:r>
            <a:endParaRPr/>
          </a:p>
        </p:txBody>
      </p:sp>
      <p:pic>
        <p:nvPicPr>
          <p:cNvPr id="276" name="Google Shape;276;p30"/>
          <p:cNvPicPr preferRelativeResize="0"/>
          <p:nvPr/>
        </p:nvPicPr>
        <p:blipFill rotWithShape="1">
          <a:blip r:embed="rId3">
            <a:alphaModFix/>
          </a:blip>
          <a:srcRect b="0" l="2685" r="0" t="0"/>
          <a:stretch/>
        </p:blipFill>
        <p:spPr>
          <a:xfrm>
            <a:off x="73300" y="1625475"/>
            <a:ext cx="4400151" cy="221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0"/>
          <p:cNvSpPr txBox="1"/>
          <p:nvPr/>
        </p:nvSpPr>
        <p:spPr>
          <a:xfrm>
            <a:off x="4439425" y="3823875"/>
            <a:ext cx="47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/llvm-project/llvm/include/llvm/Analysis/TargetTransformInfoImpl.h</a:t>
            </a:r>
            <a:endParaRPr sz="1200"/>
          </a:p>
        </p:txBody>
      </p:sp>
      <p:pic>
        <p:nvPicPr>
          <p:cNvPr id="278" name="Google Shape;27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3700" y="1631600"/>
            <a:ext cx="4562051" cy="221234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4 different legal addressing mode formats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	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 </a:t>
            </a:r>
            <a:endParaRPr/>
          </a:p>
        </p:txBody>
      </p:sp>
      <p:sp>
        <p:nvSpPr>
          <p:cNvPr id="285" name="Google Shape;285;p31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conditions for obtaining TCC_FREE in NEON</a:t>
            </a:r>
            <a:endParaRPr/>
          </a:p>
        </p:txBody>
      </p:sp>
      <p:graphicFrame>
        <p:nvGraphicFramePr>
          <p:cNvPr id="286" name="Google Shape;286;p31"/>
          <p:cNvGraphicFramePr/>
          <p:nvPr/>
        </p:nvGraphicFramePr>
        <p:xfrm>
          <a:off x="803425" y="140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{3BAFBBB7-AA4B-4DD8-96B4-59D6600F9274}</a:tableStyleId>
              </a:tblPr>
              <a:tblGrid>
                <a:gridCol w="3619500"/>
                <a:gridCol w="3619500"/>
              </a:tblGrid>
              <a:tr h="373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 + 9 bits signed offset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LDR X0, [X1, #-100]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 + 12 bits unsigned imm * NumBytes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LDR W0, [X1, #400] 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(Offset = imm12 * NumBytes)</a:t>
                      </a:r>
                      <a:endParaRPr b="1" sz="1200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Register1 + Register2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LDR X0, [X1, X2]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Register1 + SIZE_IN_BYTES * Register2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LDR X0, [X1, X2, LSL #3]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7" name="Google Shape;28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2"/>
          <p:cNvSpPr/>
          <p:nvPr/>
        </p:nvSpPr>
        <p:spPr>
          <a:xfrm>
            <a:off x="6346925" y="4507500"/>
            <a:ext cx="1648200" cy="513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2"/>
          <p:cNvSpPr/>
          <p:nvPr/>
        </p:nvSpPr>
        <p:spPr>
          <a:xfrm>
            <a:off x="5508725" y="2678700"/>
            <a:ext cx="3310200" cy="513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2"/>
          <p:cNvSpPr txBox="1"/>
          <p:nvPr>
            <p:ph idx="1" type="body"/>
          </p:nvPr>
        </p:nvSpPr>
        <p:spPr>
          <a:xfrm>
            <a:off x="323850" y="855305"/>
            <a:ext cx="8218500" cy="80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sz="1400"/>
              <a:t>For Scale == 0, the Offset range is: -28 to 14,168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" sz="1400"/>
              <a:t>For Offset == 0, the Scale range is: 1 to 8</a:t>
            </a:r>
            <a:endParaRPr/>
          </a:p>
        </p:txBody>
      </p:sp>
      <p:sp>
        <p:nvSpPr>
          <p:cNvPr id="295" name="Google Shape;295;p32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RV64 had the same addressing mode as Neon</a:t>
            </a:r>
            <a:endParaRPr/>
          </a:p>
        </p:txBody>
      </p:sp>
      <p:pic>
        <p:nvPicPr>
          <p:cNvPr id="296" name="Google Shape;2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" y="1882400"/>
            <a:ext cx="8820150" cy="7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2"/>
          <p:cNvSpPr txBox="1"/>
          <p:nvPr/>
        </p:nvSpPr>
        <p:spPr>
          <a:xfrm>
            <a:off x="221025" y="1481900"/>
            <a:ext cx="1648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Cost/Time: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2"/>
          <p:cNvSpPr txBox="1"/>
          <p:nvPr/>
        </p:nvSpPr>
        <p:spPr>
          <a:xfrm>
            <a:off x="144825" y="3386900"/>
            <a:ext cx="2496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Instruction: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2"/>
          <p:cNvSpPr txBox="1"/>
          <p:nvPr/>
        </p:nvSpPr>
        <p:spPr>
          <a:xfrm>
            <a:off x="1211625" y="4377500"/>
            <a:ext cx="10536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650" y="3746900"/>
            <a:ext cx="8820151" cy="69943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2"/>
          <p:cNvSpPr txBox="1"/>
          <p:nvPr/>
        </p:nvSpPr>
        <p:spPr>
          <a:xfrm>
            <a:off x="5584925" y="2571750"/>
            <a:ext cx="15273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Cost: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Before: 1518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After: 1812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2"/>
          <p:cNvSpPr txBox="1"/>
          <p:nvPr/>
        </p:nvSpPr>
        <p:spPr>
          <a:xfrm>
            <a:off x="7337525" y="2571750"/>
            <a:ext cx="15273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Time: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Before: 279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After: 322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2"/>
          <p:cNvSpPr txBox="1"/>
          <p:nvPr/>
        </p:nvSpPr>
        <p:spPr>
          <a:xfrm>
            <a:off x="6346925" y="4400550"/>
            <a:ext cx="15273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Vector Instructions: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Before: 652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After: 792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"/>
          <p:cNvSpPr txBox="1"/>
          <p:nvPr>
            <p:ph type="title"/>
          </p:nvPr>
        </p:nvSpPr>
        <p:spPr>
          <a:xfrm>
            <a:off x="1143000" y="1295051"/>
            <a:ext cx="6858000" cy="16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Support vload/vstore Instruction </a:t>
            </a:r>
            <a:endParaRPr b="1" sz="3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with offset in LLVM Backend</a:t>
            </a:r>
            <a:endParaRPr b="1" sz="3800"/>
          </a:p>
        </p:txBody>
      </p:sp>
      <p:pic>
        <p:nvPicPr>
          <p:cNvPr descr="民國86年申請服務標章的校徽" id="310" name="Google Shape;31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145" y="3027773"/>
            <a:ext cx="1210446" cy="121044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/>
          <p:nvPr>
            <p:ph idx="1" type="body"/>
          </p:nvPr>
        </p:nvSpPr>
        <p:spPr>
          <a:xfrm>
            <a:off x="323850" y="897982"/>
            <a:ext cx="8218500" cy="370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Encoding</a:t>
            </a:r>
            <a:endParaRPr sz="1800"/>
          </a:p>
        </p:txBody>
      </p:sp>
      <p:sp>
        <p:nvSpPr>
          <p:cNvPr id="317" name="Google Shape;317;p34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9-bit Imm Offset Coverage</a:t>
            </a:r>
            <a:endParaRPr/>
          </a:p>
        </p:txBody>
      </p:sp>
      <p:grpSp>
        <p:nvGrpSpPr>
          <p:cNvPr id="318" name="Google Shape;318;p34"/>
          <p:cNvGrpSpPr/>
          <p:nvPr/>
        </p:nvGrpSpPr>
        <p:grpSpPr>
          <a:xfrm>
            <a:off x="1582842" y="3048462"/>
            <a:ext cx="6529833" cy="1625319"/>
            <a:chOff x="3039100" y="3086950"/>
            <a:chExt cx="5978059" cy="1566875"/>
          </a:xfrm>
        </p:grpSpPr>
        <p:pic>
          <p:nvPicPr>
            <p:cNvPr id="319" name="Google Shape;31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39100" y="3086950"/>
              <a:ext cx="5978059" cy="1566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" name="Google Shape;320;p34"/>
            <p:cNvSpPr/>
            <p:nvPr/>
          </p:nvSpPr>
          <p:spPr>
            <a:xfrm>
              <a:off x="5019925" y="3389925"/>
              <a:ext cx="643500" cy="12639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1" name="Google Shape;321;p34"/>
          <p:cNvPicPr preferRelativeResize="0"/>
          <p:nvPr/>
        </p:nvPicPr>
        <p:blipFill rotWithShape="1">
          <a:blip r:embed="rId4">
            <a:alphaModFix/>
          </a:blip>
          <a:srcRect b="80408" l="0" r="0" t="0"/>
          <a:stretch/>
        </p:blipFill>
        <p:spPr>
          <a:xfrm>
            <a:off x="1286900" y="1232317"/>
            <a:ext cx="7178224" cy="1816008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Goal: Add a set of custom vector load/store instructions to LLVM backend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We define them in /llvm-project/llvm/lib/Target/RISCV/RISCVInstrInfoMTK_V.td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What we need to specify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Operands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Assembly string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Instruction pattern match 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8" name="Google Shape;328;p35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Describing instructions: Overview</a:t>
            </a:r>
            <a:endParaRPr/>
          </a:p>
        </p:txBody>
      </p:sp>
      <p:sp>
        <p:nvSpPr>
          <p:cNvPr id="329" name="Google Shape;32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For Vector load with 9-bit signed offset</a:t>
            </a:r>
            <a:endParaRPr sz="1800"/>
          </a:p>
        </p:txBody>
      </p:sp>
      <p:sp>
        <p:nvSpPr>
          <p:cNvPr id="335" name="Google Shape;335;p36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Describing instructions: Operands/Assembly String</a:t>
            </a:r>
            <a:endParaRPr/>
          </a:p>
        </p:txBody>
      </p:sp>
      <p:pic>
        <p:nvPicPr>
          <p:cNvPr id="336" name="Google Shape;33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" y="1452925"/>
            <a:ext cx="3942775" cy="311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1500" y="1452925"/>
            <a:ext cx="4610425" cy="7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6"/>
          <p:cNvSpPr txBox="1"/>
          <p:nvPr/>
        </p:nvSpPr>
        <p:spPr>
          <a:xfrm>
            <a:off x="4309925" y="2414925"/>
            <a:ext cx="4610400" cy="25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definitions or outputs (’outs’)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uses or inputs (’ins’)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Operand class: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Register class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Immediate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More complex operands (e.g. reg + imm for load/store)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For Vector store with 9-bit signed offset</a:t>
            </a:r>
            <a:endParaRPr sz="1800"/>
          </a:p>
        </p:txBody>
      </p:sp>
      <p:sp>
        <p:nvSpPr>
          <p:cNvPr id="345" name="Google Shape;345;p37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Describing instructions: Operands/Assembly String</a:t>
            </a:r>
            <a:endParaRPr/>
          </a:p>
        </p:txBody>
      </p:sp>
      <p:pic>
        <p:nvPicPr>
          <p:cNvPr id="346" name="Google Shape;3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75" y="1452800"/>
            <a:ext cx="3990125" cy="301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452800"/>
            <a:ext cx="4364450" cy="88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7"/>
          <p:cNvSpPr txBox="1"/>
          <p:nvPr/>
        </p:nvSpPr>
        <p:spPr>
          <a:xfrm>
            <a:off x="4309925" y="2414925"/>
            <a:ext cx="4610400" cy="25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definitions or outputs (’outs’)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uses or inputs (’ins’)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Operand class: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Register class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Immediate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More complex operands (e.g. reg + imm for load/store)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8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Matches nodes in the Selection DAG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Nodes get turned into MachineInstrs during ISel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If pattern is omitted, selection needs to be done in C++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Syntax: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Nodes have DAG operands, with ’MVT’ type (e.g. i32)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Map DAG operands to MI operands</a:t>
            </a:r>
            <a:endParaRPr sz="1800"/>
          </a:p>
        </p:txBody>
      </p:sp>
      <p:sp>
        <p:nvSpPr>
          <p:cNvPr id="355" name="Google Shape;355;p38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Describing instructions: Selection Patterns</a:t>
            </a:r>
            <a:endParaRPr/>
          </a:p>
        </p:txBody>
      </p:sp>
      <p:pic>
        <p:nvPicPr>
          <p:cNvPr id="356" name="Google Shape;356;p38"/>
          <p:cNvPicPr preferRelativeResize="0"/>
          <p:nvPr/>
        </p:nvPicPr>
        <p:blipFill rotWithShape="1">
          <a:blip r:embed="rId3">
            <a:alphaModFix/>
          </a:blip>
          <a:srcRect b="0" l="0" r="0" t="10297"/>
          <a:stretch/>
        </p:blipFill>
        <p:spPr>
          <a:xfrm>
            <a:off x="915650" y="2729701"/>
            <a:ext cx="7034899" cy="7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5638" y="3720250"/>
            <a:ext cx="7034926" cy="7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Graph representation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Operations as Node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Could be target-dependent or independent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Semantics defined by LLVM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Node id.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MVT(Machine Value Type)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Operation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Operands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Dependency as Edge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Data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Order (</a:t>
            </a:r>
            <a:r>
              <a:rPr lang="en" sz="1800">
                <a:solidFill>
                  <a:schemeClr val="accent3"/>
                </a:solidFill>
              </a:rPr>
              <a:t>chain edge</a:t>
            </a:r>
            <a:r>
              <a:rPr lang="en" sz="1800"/>
              <a:t>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Scheduling (</a:t>
            </a:r>
            <a:r>
              <a:rPr lang="en" sz="1800">
                <a:solidFill>
                  <a:schemeClr val="accent4"/>
                </a:solidFill>
              </a:rPr>
              <a:t>glue edge</a:t>
            </a:r>
            <a:r>
              <a:rPr lang="en" sz="1800"/>
              <a:t>)</a:t>
            </a:r>
            <a:endParaRPr sz="1800"/>
          </a:p>
        </p:txBody>
      </p:sp>
      <p:sp>
        <p:nvSpPr>
          <p:cNvPr id="364" name="Google Shape;364;p39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Look at a SelectionDAG graph</a:t>
            </a:r>
            <a:endParaRPr/>
          </a:p>
        </p:txBody>
      </p:sp>
      <p:pic>
        <p:nvPicPr>
          <p:cNvPr id="365" name="Google Shape;36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5069" y="772837"/>
            <a:ext cx="3007281" cy="41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SelectionDAG before machine instruction selection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>
                <a:solidFill>
                  <a:schemeClr val="accent5"/>
                </a:solidFill>
              </a:rPr>
              <a:t>Green </a:t>
            </a:r>
            <a:r>
              <a:rPr lang="en" sz="1800"/>
              <a:t>node outputs base address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–"/>
            </a:pPr>
            <a:r>
              <a:rPr lang="en" sz="1800">
                <a:solidFill>
                  <a:schemeClr val="accent6"/>
                </a:solidFill>
              </a:rPr>
              <a:t>Blue </a:t>
            </a:r>
            <a:r>
              <a:rPr lang="en" sz="1800"/>
              <a:t>node outputs offset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add operation is needed to calculate the memory address  </a:t>
            </a:r>
            <a:endParaRPr sz="1800"/>
          </a:p>
        </p:txBody>
      </p:sp>
      <p:sp>
        <p:nvSpPr>
          <p:cNvPr id="372" name="Google Shape;372;p40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Matching multiple DAG nodes</a:t>
            </a:r>
            <a:endParaRPr/>
          </a:p>
        </p:txBody>
      </p:sp>
      <p:pic>
        <p:nvPicPr>
          <p:cNvPr id="373" name="Google Shape;37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2353" y="2131536"/>
            <a:ext cx="6093700" cy="2557967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0"/>
          <p:cNvSpPr/>
          <p:nvPr/>
        </p:nvSpPr>
        <p:spPr>
          <a:xfrm>
            <a:off x="6764215" y="2058115"/>
            <a:ext cx="1557000" cy="981000"/>
          </a:xfrm>
          <a:prstGeom prst="ellipse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0"/>
          <p:cNvSpPr/>
          <p:nvPr/>
        </p:nvSpPr>
        <p:spPr>
          <a:xfrm>
            <a:off x="5653325" y="2223000"/>
            <a:ext cx="961800" cy="816000"/>
          </a:xfrm>
          <a:prstGeom prst="ellipse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0"/>
          <p:cNvSpPr/>
          <p:nvPr/>
        </p:nvSpPr>
        <p:spPr>
          <a:xfrm>
            <a:off x="1918875" y="3039000"/>
            <a:ext cx="5991600" cy="18297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SelectionDAG after machine instruction selection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The machine instruction can directly greps the base address and offset</a:t>
            </a:r>
            <a:endParaRPr sz="1800"/>
          </a:p>
        </p:txBody>
      </p:sp>
      <p:sp>
        <p:nvSpPr>
          <p:cNvPr id="383" name="Google Shape;383;p41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Matching multiple DAG nodes</a:t>
            </a:r>
            <a:endParaRPr/>
          </a:p>
        </p:txBody>
      </p:sp>
      <p:grpSp>
        <p:nvGrpSpPr>
          <p:cNvPr id="384" name="Google Shape;384;p41"/>
          <p:cNvGrpSpPr/>
          <p:nvPr/>
        </p:nvGrpSpPr>
        <p:grpSpPr>
          <a:xfrm>
            <a:off x="90475" y="2170988"/>
            <a:ext cx="8963025" cy="2333625"/>
            <a:chOff x="90488" y="1815313"/>
            <a:chExt cx="8963025" cy="2333625"/>
          </a:xfrm>
        </p:grpSpPr>
        <p:pic>
          <p:nvPicPr>
            <p:cNvPr id="385" name="Google Shape;38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488" y="1815313"/>
              <a:ext cx="8963025" cy="2333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6" name="Google Shape;386;p41"/>
            <p:cNvSpPr/>
            <p:nvPr/>
          </p:nvSpPr>
          <p:spPr>
            <a:xfrm>
              <a:off x="6660875" y="1815325"/>
              <a:ext cx="766200" cy="11880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41"/>
          <p:cNvSpPr/>
          <p:nvPr/>
        </p:nvSpPr>
        <p:spPr>
          <a:xfrm>
            <a:off x="7472825" y="2319301"/>
            <a:ext cx="1518300" cy="1009200"/>
          </a:xfrm>
          <a:prstGeom prst="ellipse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1"/>
          <p:cNvSpPr/>
          <p:nvPr/>
        </p:nvSpPr>
        <p:spPr>
          <a:xfrm>
            <a:off x="90475" y="2171000"/>
            <a:ext cx="8963040" cy="2697882"/>
          </a:xfrm>
          <a:custGeom>
            <a:rect b="b" l="l" r="r" t="t"/>
            <a:pathLst>
              <a:path extrusionOk="0" h="107229" w="380677">
                <a:moveTo>
                  <a:pt x="56337" y="98492"/>
                </a:moveTo>
                <a:cubicBezTo>
                  <a:pt x="7273" y="97306"/>
                  <a:pt x="21134" y="107064"/>
                  <a:pt x="16392" y="95756"/>
                </a:cubicBezTo>
                <a:cubicBezTo>
                  <a:pt x="11650" y="84448"/>
                  <a:pt x="-24008" y="46601"/>
                  <a:pt x="27883" y="30642"/>
                </a:cubicBezTo>
                <a:cubicBezTo>
                  <a:pt x="79774" y="14683"/>
                  <a:pt x="269190" y="0"/>
                  <a:pt x="327738" y="0"/>
                </a:cubicBezTo>
                <a:cubicBezTo>
                  <a:pt x="386286" y="0"/>
                  <a:pt x="382000" y="13497"/>
                  <a:pt x="379173" y="30642"/>
                </a:cubicBezTo>
                <a:cubicBezTo>
                  <a:pt x="376346" y="47787"/>
                  <a:pt x="364582" y="91562"/>
                  <a:pt x="310776" y="102870"/>
                </a:cubicBezTo>
                <a:cubicBezTo>
                  <a:pt x="256970" y="114178"/>
                  <a:pt x="105401" y="99678"/>
                  <a:pt x="56337" y="98492"/>
                </a:cubicBezTo>
                <a:close/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9" name="Google Shape;38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2"/>
          <p:cNvSpPr txBox="1"/>
          <p:nvPr>
            <p:ph idx="1" type="body"/>
          </p:nvPr>
        </p:nvSpPr>
        <p:spPr>
          <a:xfrm>
            <a:off x="323850" y="1007703"/>
            <a:ext cx="8571600" cy="436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Enable RISCV Vector Extension to generate vector type </a:t>
            </a:r>
            <a:endParaRPr sz="1800"/>
          </a:p>
        </p:txBody>
      </p:sp>
      <p:sp>
        <p:nvSpPr>
          <p:cNvPr id="395" name="Google Shape;395;p42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396" name="Google Shape;39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725" y="1771200"/>
            <a:ext cx="24384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1650" y="1444400"/>
            <a:ext cx="5483851" cy="29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2"/>
          <p:cNvSpPr txBox="1"/>
          <p:nvPr/>
        </p:nvSpPr>
        <p:spPr>
          <a:xfrm>
            <a:off x="550225" y="4387125"/>
            <a:ext cx="2243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example.c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2"/>
          <p:cNvSpPr txBox="1"/>
          <p:nvPr/>
        </p:nvSpPr>
        <p:spPr>
          <a:xfrm>
            <a:off x="5039050" y="4387125"/>
            <a:ext cx="2243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example.ll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"/>
          <p:cNvSpPr txBox="1"/>
          <p:nvPr>
            <p:ph idx="1" type="body"/>
          </p:nvPr>
        </p:nvSpPr>
        <p:spPr>
          <a:xfrm>
            <a:off x="286200" y="610790"/>
            <a:ext cx="8571600" cy="436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Compare the assembly before/after custom instruction is added</a:t>
            </a:r>
            <a:endParaRPr sz="1800"/>
          </a:p>
        </p:txBody>
      </p:sp>
      <p:sp>
        <p:nvSpPr>
          <p:cNvPr id="406" name="Google Shape;406;p43"/>
          <p:cNvSpPr txBox="1"/>
          <p:nvPr>
            <p:ph type="title"/>
          </p:nvPr>
        </p:nvSpPr>
        <p:spPr>
          <a:xfrm>
            <a:off x="286200" y="64945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407" name="Google Shape;407;p43"/>
          <p:cNvSpPr txBox="1"/>
          <p:nvPr/>
        </p:nvSpPr>
        <p:spPr>
          <a:xfrm>
            <a:off x="550225" y="4387125"/>
            <a:ext cx="2243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3"/>
          <p:cNvSpPr txBox="1"/>
          <p:nvPr/>
        </p:nvSpPr>
        <p:spPr>
          <a:xfrm>
            <a:off x="5039050" y="4387125"/>
            <a:ext cx="2243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725" y="1047600"/>
            <a:ext cx="2550200" cy="367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7175" y="1061687"/>
            <a:ext cx="1862333" cy="367607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3"/>
          <p:cNvSpPr txBox="1"/>
          <p:nvPr/>
        </p:nvSpPr>
        <p:spPr>
          <a:xfrm>
            <a:off x="286200" y="4426875"/>
            <a:ext cx="17916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before_test.s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3"/>
          <p:cNvSpPr txBox="1"/>
          <p:nvPr/>
        </p:nvSpPr>
        <p:spPr>
          <a:xfrm>
            <a:off x="7176925" y="4426875"/>
            <a:ext cx="14775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after_test.s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3"/>
          <p:cNvSpPr txBox="1"/>
          <p:nvPr/>
        </p:nvSpPr>
        <p:spPr>
          <a:xfrm>
            <a:off x="2466050" y="5014175"/>
            <a:ext cx="43638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4"/>
          <p:cNvSpPr txBox="1"/>
          <p:nvPr>
            <p:ph type="ctrTitle"/>
          </p:nvPr>
        </p:nvSpPr>
        <p:spPr>
          <a:xfrm>
            <a:off x="311700" y="1217075"/>
            <a:ext cx="8520600" cy="13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LLVM Loop Vectorizer</a:t>
            </a:r>
            <a:endParaRPr/>
          </a:p>
        </p:txBody>
      </p:sp>
      <p:sp>
        <p:nvSpPr>
          <p:cNvPr id="420" name="Google Shape;420;p44"/>
          <p:cNvSpPr txBox="1"/>
          <p:nvPr>
            <p:ph idx="1" type="subTitle"/>
          </p:nvPr>
        </p:nvSpPr>
        <p:spPr>
          <a:xfrm>
            <a:off x="311700" y="2834125"/>
            <a:ext cx="8520600" cy="13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CSIE5054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Compiler Design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4"/>
          <p:cNvSpPr/>
          <p:nvPr/>
        </p:nvSpPr>
        <p:spPr>
          <a:xfrm>
            <a:off x="6129750" y="4982400"/>
            <a:ext cx="3033000" cy="2373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4"/>
          <p:cNvSpPr txBox="1"/>
          <p:nvPr/>
        </p:nvSpPr>
        <p:spPr>
          <a:xfrm>
            <a:off x="5940825" y="4982400"/>
            <a:ext cx="3385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NTU CSIE5054 Advanced Compiler Design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descr="民國86年申請服務標章的校徽" id="423" name="Google Shape;42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145" y="3027773"/>
            <a:ext cx="1210446" cy="1210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429" name="Google Shape;42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vectorizer overview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LCSSA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vectorizer structure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Model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</a:t>
            </a:r>
            <a:r>
              <a:rPr lang="en"/>
              <a:t>nteresting case ( PHI instruction )</a:t>
            </a:r>
            <a:endParaRPr/>
          </a:p>
        </p:txBody>
      </p:sp>
      <p:sp>
        <p:nvSpPr>
          <p:cNvPr id="430" name="Google Shape;43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6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Loop vectorizer Overview</a:t>
            </a:r>
            <a:endParaRPr/>
          </a:p>
        </p:txBody>
      </p:sp>
      <p:pic>
        <p:nvPicPr>
          <p:cNvPr id="436" name="Google Shape;43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375" y="2712400"/>
            <a:ext cx="7688700" cy="1444743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6"/>
          <p:cNvSpPr txBox="1"/>
          <p:nvPr/>
        </p:nvSpPr>
        <p:spPr>
          <a:xfrm>
            <a:off x="1651625" y="4230050"/>
            <a:ext cx="5304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https://www.cs.cornell.edu/~asampson/blog/llvm.html</a:t>
            </a:r>
            <a:endParaRPr sz="1700" u="sng">
              <a:solidFill>
                <a:srgbClr val="0097A7"/>
              </a:solidFill>
            </a:endParaRPr>
          </a:p>
        </p:txBody>
      </p:sp>
      <p:sp>
        <p:nvSpPr>
          <p:cNvPr id="438" name="Google Shape;438;p46"/>
          <p:cNvSpPr txBox="1"/>
          <p:nvPr/>
        </p:nvSpPr>
        <p:spPr>
          <a:xfrm>
            <a:off x="653250" y="1088275"/>
            <a:ext cx="7609800" cy="1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rgbClr val="595959"/>
                </a:solidFill>
              </a:rPr>
              <a:t>The LLVM optimizer is organized as a pipeline of distinct optimization and analysis passes.</a:t>
            </a:r>
            <a:endParaRPr sz="1700">
              <a:solidFill>
                <a:srgbClr val="595959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rgbClr val="595959"/>
                </a:solidFill>
              </a:rPr>
              <a:t>Loop vectorize is one of them.</a:t>
            </a:r>
            <a:endParaRPr sz="17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</p:txBody>
      </p:sp>
      <p:sp>
        <p:nvSpPr>
          <p:cNvPr id="439" name="Google Shape;43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 vectorizer Overview</a:t>
            </a:r>
            <a:endParaRPr/>
          </a:p>
        </p:txBody>
      </p:sp>
      <p:sp>
        <p:nvSpPr>
          <p:cNvPr id="445" name="Google Shape;445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Widen instructions in loops to operate on multiple consecutive iterations.</a:t>
            </a:r>
            <a:endParaRPr/>
          </a:p>
        </p:txBody>
      </p:sp>
      <p:pic>
        <p:nvPicPr>
          <p:cNvPr id="446" name="Google Shape;44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00" y="2143892"/>
            <a:ext cx="3448500" cy="8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3725" y="2143887"/>
            <a:ext cx="3680973" cy="85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8" name="Google Shape;448;p47"/>
          <p:cNvCxnSpPr/>
          <p:nvPr/>
        </p:nvCxnSpPr>
        <p:spPr>
          <a:xfrm>
            <a:off x="3979600" y="258146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9" name="Google Shape;44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 vectorizer Overview</a:t>
            </a:r>
            <a:endParaRPr/>
          </a:p>
        </p:txBody>
      </p:sp>
      <p:sp>
        <p:nvSpPr>
          <p:cNvPr id="455" name="Google Shape;455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Widen instructions in loops to operate on multiple consecutive iterations.</a:t>
            </a:r>
            <a:endParaRPr/>
          </a:p>
        </p:txBody>
      </p:sp>
      <p:pic>
        <p:nvPicPr>
          <p:cNvPr id="456" name="Google Shape;45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00" y="2143892"/>
            <a:ext cx="3448500" cy="8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3725" y="2143887"/>
            <a:ext cx="3680973" cy="85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8" name="Google Shape;458;p48"/>
          <p:cNvCxnSpPr/>
          <p:nvPr/>
        </p:nvCxnSpPr>
        <p:spPr>
          <a:xfrm>
            <a:off x="3979600" y="258146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59" name="Google Shape;459;p48"/>
          <p:cNvGraphicFramePr/>
          <p:nvPr/>
        </p:nvGraphicFramePr>
        <p:xfrm>
          <a:off x="903700" y="332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{3BAFBBB7-AA4B-4DD8-96B4-59D6600F9274}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A[i]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A[i+1]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A[i+2]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A[i+3]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60" name="Google Shape;460;p48"/>
          <p:cNvGraphicFramePr/>
          <p:nvPr/>
        </p:nvGraphicFramePr>
        <p:xfrm>
          <a:off x="903700" y="399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{3BAFBBB7-AA4B-4DD8-96B4-59D6600F9274}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B[i]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B[i+1]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B[i+2]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B[i+3]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1" name="Google Shape;461;p48"/>
          <p:cNvSpPr txBox="1"/>
          <p:nvPr/>
        </p:nvSpPr>
        <p:spPr>
          <a:xfrm>
            <a:off x="3617175" y="4495325"/>
            <a:ext cx="4056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Vector Registers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2" name="Google Shape;46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 vectorizer Overview</a:t>
            </a:r>
            <a:endParaRPr/>
          </a:p>
        </p:txBody>
      </p:sp>
      <p:graphicFrame>
        <p:nvGraphicFramePr>
          <p:cNvPr id="468" name="Google Shape;468;p49"/>
          <p:cNvGraphicFramePr/>
          <p:nvPr/>
        </p:nvGraphicFramePr>
        <p:xfrm>
          <a:off x="903700" y="332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{3BAFBBB7-AA4B-4DD8-96B4-59D6600F9274}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A[i]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A[i+1]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A[i+2]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A[i+3]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69" name="Google Shape;469;p49"/>
          <p:cNvGraphicFramePr/>
          <p:nvPr/>
        </p:nvGraphicFramePr>
        <p:xfrm>
          <a:off x="903700" y="399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{3BAFBBB7-AA4B-4DD8-96B4-59D6600F9274}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B[i]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B[i+1]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B[i+2]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B[i+3]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0" name="Google Shape;470;p49"/>
          <p:cNvSpPr txBox="1"/>
          <p:nvPr/>
        </p:nvSpPr>
        <p:spPr>
          <a:xfrm>
            <a:off x="3617175" y="4495325"/>
            <a:ext cx="4056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Vector Registers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71" name="Google Shape;47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700" y="1985025"/>
            <a:ext cx="7116324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9"/>
          <p:cNvSpPr txBox="1"/>
          <p:nvPr/>
        </p:nvSpPr>
        <p:spPr>
          <a:xfrm>
            <a:off x="3617175" y="2373600"/>
            <a:ext cx="4056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Vector Instructions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3" name="Google Shape;473;p49"/>
          <p:cNvSpPr/>
          <p:nvPr/>
        </p:nvSpPr>
        <p:spPr>
          <a:xfrm>
            <a:off x="3363525" y="1856925"/>
            <a:ext cx="1933800" cy="51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Loop vectorizer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Vectorization Factor  ( VF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Target Transform Info ( TTI 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LCSSA</a:t>
            </a:r>
            <a:endParaRPr/>
          </a:p>
        </p:txBody>
      </p:sp>
      <p:sp>
        <p:nvSpPr>
          <p:cNvPr id="487" name="Google Shape;48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Loop-closed SSA ( LCSSA ):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program is in </a:t>
            </a:r>
            <a:r>
              <a:rPr lang="en">
                <a:solidFill>
                  <a:srgbClr val="FF0000"/>
                </a:solidFill>
              </a:rPr>
              <a:t>Loop Closed SSA Form</a:t>
            </a:r>
            <a:r>
              <a:rPr lang="en"/>
              <a:t> if it is in SSA form and all values that are defined in a loop are used only inside this loop.</a:t>
            </a:r>
            <a:endParaRPr/>
          </a:p>
        </p:txBody>
      </p:sp>
      <p:sp>
        <p:nvSpPr>
          <p:cNvPr id="488" name="Google Shape;48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9" name="Google Shape;48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0288" y="2465475"/>
            <a:ext cx="261937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0688" y="2470238"/>
            <a:ext cx="2600325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51"/>
          <p:cNvSpPr txBox="1"/>
          <p:nvPr/>
        </p:nvSpPr>
        <p:spPr>
          <a:xfrm>
            <a:off x="2047575" y="4269625"/>
            <a:ext cx="1813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Not LCSSA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492" name="Google Shape;492;p51"/>
          <p:cNvSpPr txBox="1"/>
          <p:nvPr/>
        </p:nvSpPr>
        <p:spPr>
          <a:xfrm>
            <a:off x="5977213" y="4269625"/>
            <a:ext cx="1813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 LCSSA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LCSSA</a:t>
            </a:r>
            <a:endParaRPr/>
          </a:p>
        </p:txBody>
      </p:sp>
      <p:sp>
        <p:nvSpPr>
          <p:cNvPr id="498" name="Google Shape;498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 simple example: Loop-unswitch</a:t>
            </a:r>
            <a:endParaRPr/>
          </a:p>
        </p:txBody>
      </p:sp>
      <p:sp>
        <p:nvSpPr>
          <p:cNvPr id="499" name="Google Shape;49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0" name="Google Shape;50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988" y="2008175"/>
            <a:ext cx="260032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8538" y="1582025"/>
            <a:ext cx="1895475" cy="291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2" name="Google Shape;502;p52"/>
          <p:cNvCxnSpPr/>
          <p:nvPr/>
        </p:nvCxnSpPr>
        <p:spPr>
          <a:xfrm>
            <a:off x="3842350" y="2938050"/>
            <a:ext cx="1374600" cy="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3" name="Google Shape;503;p52"/>
          <p:cNvSpPr/>
          <p:nvPr/>
        </p:nvSpPr>
        <p:spPr>
          <a:xfrm>
            <a:off x="892122" y="3219175"/>
            <a:ext cx="1065600" cy="228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2"/>
          <p:cNvSpPr/>
          <p:nvPr/>
        </p:nvSpPr>
        <p:spPr>
          <a:xfrm>
            <a:off x="5598551" y="4306750"/>
            <a:ext cx="1290300" cy="228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Loop vectorizer 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When we try to vectorize a loop ……</a:t>
            </a:r>
            <a:endParaRPr/>
          </a:p>
        </p:txBody>
      </p:sp>
      <p:sp>
        <p:nvSpPr>
          <p:cNvPr id="511" name="Google Shape;511;p53"/>
          <p:cNvSpPr/>
          <p:nvPr/>
        </p:nvSpPr>
        <p:spPr>
          <a:xfrm>
            <a:off x="662100" y="2595775"/>
            <a:ext cx="1139700" cy="66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Legality Check</a:t>
            </a:r>
            <a:endParaRPr/>
          </a:p>
        </p:txBody>
      </p:sp>
      <p:sp>
        <p:nvSpPr>
          <p:cNvPr id="512" name="Google Shape;512;p53"/>
          <p:cNvSpPr/>
          <p:nvPr/>
        </p:nvSpPr>
        <p:spPr>
          <a:xfrm>
            <a:off x="2847438" y="2578725"/>
            <a:ext cx="1248600" cy="68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vectorization recipes</a:t>
            </a:r>
            <a:endParaRPr/>
          </a:p>
        </p:txBody>
      </p:sp>
      <p:sp>
        <p:nvSpPr>
          <p:cNvPr id="513" name="Google Shape;513;p53"/>
          <p:cNvSpPr/>
          <p:nvPr/>
        </p:nvSpPr>
        <p:spPr>
          <a:xfrm>
            <a:off x="5160350" y="2587225"/>
            <a:ext cx="1139700" cy="68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the best Plan</a:t>
            </a:r>
            <a:endParaRPr/>
          </a:p>
        </p:txBody>
      </p:sp>
      <p:sp>
        <p:nvSpPr>
          <p:cNvPr id="514" name="Google Shape;514;p53"/>
          <p:cNvSpPr/>
          <p:nvPr/>
        </p:nvSpPr>
        <p:spPr>
          <a:xfrm>
            <a:off x="7454575" y="2587275"/>
            <a:ext cx="1139700" cy="66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Execute the Plan</a:t>
            </a:r>
            <a:endParaRPr/>
          </a:p>
        </p:txBody>
      </p:sp>
      <p:cxnSp>
        <p:nvCxnSpPr>
          <p:cNvPr id="515" name="Google Shape;515;p53"/>
          <p:cNvCxnSpPr/>
          <p:nvPr/>
        </p:nvCxnSpPr>
        <p:spPr>
          <a:xfrm>
            <a:off x="1969113" y="292651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53"/>
          <p:cNvCxnSpPr/>
          <p:nvPr/>
        </p:nvCxnSpPr>
        <p:spPr>
          <a:xfrm>
            <a:off x="4272688" y="291801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53"/>
          <p:cNvCxnSpPr/>
          <p:nvPr/>
        </p:nvCxnSpPr>
        <p:spPr>
          <a:xfrm>
            <a:off x="6521813" y="291801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8" name="Google Shape;518;p53"/>
          <p:cNvSpPr/>
          <p:nvPr/>
        </p:nvSpPr>
        <p:spPr>
          <a:xfrm>
            <a:off x="513000" y="2484175"/>
            <a:ext cx="1456200" cy="937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Legality Check</a:t>
            </a:r>
            <a:endParaRPr/>
          </a:p>
        </p:txBody>
      </p:sp>
      <p:sp>
        <p:nvSpPr>
          <p:cNvPr id="525" name="Google Shape;525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we have to check if it is legal to vectorize a loop, and to what vectorization factor.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Two main kinds of checks: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Memory checks : Checks if vectorization will change the order of memory accesses in a way that will change the correctness of the program.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Scalars checks : Checks for a number of different conditions, such as the availability of a single induction variable, that all types are supported and vectorize-able.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4"/>
          <p:cNvSpPr txBox="1"/>
          <p:nvPr/>
        </p:nvSpPr>
        <p:spPr>
          <a:xfrm>
            <a:off x="5129575" y="4694800"/>
            <a:ext cx="387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https://llvm.org/doxygen/classllvm_1_1LoopVectorizationLegality.html#details</a:t>
            </a:r>
            <a:endParaRPr sz="800"/>
          </a:p>
        </p:txBody>
      </p:sp>
      <p:sp>
        <p:nvSpPr>
          <p:cNvPr id="527" name="Google Shape;527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 vectorizer 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When we try to vectorize a loop ……</a:t>
            </a:r>
            <a:endParaRPr/>
          </a:p>
        </p:txBody>
      </p:sp>
      <p:sp>
        <p:nvSpPr>
          <p:cNvPr id="534" name="Google Shape;534;p55"/>
          <p:cNvSpPr/>
          <p:nvPr/>
        </p:nvSpPr>
        <p:spPr>
          <a:xfrm>
            <a:off x="662100" y="2595775"/>
            <a:ext cx="1139700" cy="66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Legality Check</a:t>
            </a:r>
            <a:endParaRPr/>
          </a:p>
        </p:txBody>
      </p:sp>
      <p:sp>
        <p:nvSpPr>
          <p:cNvPr id="535" name="Google Shape;535;p55"/>
          <p:cNvSpPr/>
          <p:nvPr/>
        </p:nvSpPr>
        <p:spPr>
          <a:xfrm>
            <a:off x="2847438" y="2578725"/>
            <a:ext cx="1248600" cy="68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vectorization recipes</a:t>
            </a:r>
            <a:endParaRPr/>
          </a:p>
        </p:txBody>
      </p:sp>
      <p:sp>
        <p:nvSpPr>
          <p:cNvPr id="536" name="Google Shape;536;p55"/>
          <p:cNvSpPr/>
          <p:nvPr/>
        </p:nvSpPr>
        <p:spPr>
          <a:xfrm>
            <a:off x="5160350" y="2587225"/>
            <a:ext cx="1139700" cy="68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the best Plan</a:t>
            </a:r>
            <a:endParaRPr/>
          </a:p>
        </p:txBody>
      </p:sp>
      <p:sp>
        <p:nvSpPr>
          <p:cNvPr id="537" name="Google Shape;537;p55"/>
          <p:cNvSpPr/>
          <p:nvPr/>
        </p:nvSpPr>
        <p:spPr>
          <a:xfrm>
            <a:off x="7454575" y="2587275"/>
            <a:ext cx="1139700" cy="66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Execute the Plan</a:t>
            </a:r>
            <a:endParaRPr/>
          </a:p>
        </p:txBody>
      </p:sp>
      <p:cxnSp>
        <p:nvCxnSpPr>
          <p:cNvPr id="538" name="Google Shape;538;p55"/>
          <p:cNvCxnSpPr/>
          <p:nvPr/>
        </p:nvCxnSpPr>
        <p:spPr>
          <a:xfrm>
            <a:off x="1969113" y="292651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55"/>
          <p:cNvCxnSpPr/>
          <p:nvPr/>
        </p:nvCxnSpPr>
        <p:spPr>
          <a:xfrm>
            <a:off x="4272688" y="291801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55"/>
          <p:cNvCxnSpPr/>
          <p:nvPr/>
        </p:nvCxnSpPr>
        <p:spPr>
          <a:xfrm>
            <a:off x="6521813" y="291801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1" name="Google Shape;541;p55"/>
          <p:cNvSpPr/>
          <p:nvPr/>
        </p:nvSpPr>
        <p:spPr>
          <a:xfrm>
            <a:off x="2748313" y="2454025"/>
            <a:ext cx="1456200" cy="951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Vectorization Plan Recipes</a:t>
            </a:r>
            <a:endParaRPr/>
          </a:p>
        </p:txBody>
      </p:sp>
      <p:sp>
        <p:nvSpPr>
          <p:cNvPr id="548" name="Google Shape;548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Key Function:</a:t>
            </a:r>
            <a:endParaRPr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buildVPlansWithVPRecipes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tryToBuildVPlanWithVPRecipes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49" name="Google Shape;54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57275"/>
            <a:ext cx="8520602" cy="1585997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7"/>
          <p:cNvSpPr txBox="1"/>
          <p:nvPr>
            <p:ph type="title"/>
          </p:nvPr>
        </p:nvSpPr>
        <p:spPr>
          <a:xfrm>
            <a:off x="323850" y="117557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Vectorized loop </a:t>
            </a:r>
            <a:r>
              <a:rPr lang="en"/>
              <a:t>skeleton</a:t>
            </a:r>
            <a:endParaRPr/>
          </a:p>
        </p:txBody>
      </p:sp>
      <p:sp>
        <p:nvSpPr>
          <p:cNvPr id="556" name="Google Shape;556;p57"/>
          <p:cNvSpPr/>
          <p:nvPr/>
        </p:nvSpPr>
        <p:spPr>
          <a:xfrm>
            <a:off x="1088813" y="1232738"/>
            <a:ext cx="1576500" cy="720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Vector.ph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57"/>
          <p:cNvSpPr/>
          <p:nvPr/>
        </p:nvSpPr>
        <p:spPr>
          <a:xfrm>
            <a:off x="1088813" y="2447494"/>
            <a:ext cx="1576500" cy="1742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Vector.body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7"/>
          <p:cNvSpPr/>
          <p:nvPr/>
        </p:nvSpPr>
        <p:spPr>
          <a:xfrm>
            <a:off x="3650916" y="1693969"/>
            <a:ext cx="1576500" cy="1425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middle.block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7"/>
          <p:cNvSpPr/>
          <p:nvPr/>
        </p:nvSpPr>
        <p:spPr>
          <a:xfrm>
            <a:off x="6213019" y="1232738"/>
            <a:ext cx="1576500" cy="720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Scalar.ph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57"/>
          <p:cNvSpPr/>
          <p:nvPr/>
        </p:nvSpPr>
        <p:spPr>
          <a:xfrm>
            <a:off x="6213019" y="2447494"/>
            <a:ext cx="1576500" cy="1742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for.body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1" name="Google Shape;561;p57"/>
          <p:cNvCxnSpPr>
            <a:stCxn id="556" idx="2"/>
            <a:endCxn id="557" idx="0"/>
          </p:cNvCxnSpPr>
          <p:nvPr/>
        </p:nvCxnSpPr>
        <p:spPr>
          <a:xfrm>
            <a:off x="1877063" y="1953038"/>
            <a:ext cx="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2" name="Google Shape;562;p57"/>
          <p:cNvCxnSpPr>
            <a:stCxn id="557" idx="3"/>
            <a:endCxn id="558" idx="1"/>
          </p:cNvCxnSpPr>
          <p:nvPr/>
        </p:nvCxnSpPr>
        <p:spPr>
          <a:xfrm flipH="1" rot="10800000">
            <a:off x="2665313" y="2406844"/>
            <a:ext cx="985500" cy="9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p57"/>
          <p:cNvCxnSpPr>
            <a:stCxn id="558" idx="3"/>
            <a:endCxn id="559" idx="1"/>
          </p:cNvCxnSpPr>
          <p:nvPr/>
        </p:nvCxnSpPr>
        <p:spPr>
          <a:xfrm flipH="1" rot="10800000">
            <a:off x="5227416" y="1592869"/>
            <a:ext cx="985500" cy="8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57"/>
          <p:cNvCxnSpPr>
            <a:stCxn id="559" idx="2"/>
            <a:endCxn id="560" idx="0"/>
          </p:cNvCxnSpPr>
          <p:nvPr/>
        </p:nvCxnSpPr>
        <p:spPr>
          <a:xfrm>
            <a:off x="7001269" y="1953038"/>
            <a:ext cx="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 vectorizer 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When we try to vectorize a loop ……</a:t>
            </a:r>
            <a:endParaRPr/>
          </a:p>
        </p:txBody>
      </p:sp>
      <p:sp>
        <p:nvSpPr>
          <p:cNvPr id="571" name="Google Shape;571;p58"/>
          <p:cNvSpPr/>
          <p:nvPr/>
        </p:nvSpPr>
        <p:spPr>
          <a:xfrm>
            <a:off x="662100" y="2595775"/>
            <a:ext cx="1139700" cy="66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Legality Check</a:t>
            </a:r>
            <a:endParaRPr/>
          </a:p>
        </p:txBody>
      </p:sp>
      <p:sp>
        <p:nvSpPr>
          <p:cNvPr id="572" name="Google Shape;572;p58"/>
          <p:cNvSpPr/>
          <p:nvPr/>
        </p:nvSpPr>
        <p:spPr>
          <a:xfrm>
            <a:off x="2847438" y="2578725"/>
            <a:ext cx="1248600" cy="68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vectorization recipes</a:t>
            </a:r>
            <a:endParaRPr/>
          </a:p>
        </p:txBody>
      </p:sp>
      <p:sp>
        <p:nvSpPr>
          <p:cNvPr id="573" name="Google Shape;573;p58"/>
          <p:cNvSpPr/>
          <p:nvPr/>
        </p:nvSpPr>
        <p:spPr>
          <a:xfrm>
            <a:off x="5160350" y="2587225"/>
            <a:ext cx="1139700" cy="68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the best Plan</a:t>
            </a:r>
            <a:endParaRPr/>
          </a:p>
        </p:txBody>
      </p:sp>
      <p:sp>
        <p:nvSpPr>
          <p:cNvPr id="574" name="Google Shape;574;p58"/>
          <p:cNvSpPr/>
          <p:nvPr/>
        </p:nvSpPr>
        <p:spPr>
          <a:xfrm>
            <a:off x="7454575" y="2587275"/>
            <a:ext cx="1139700" cy="66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Execute the Plan</a:t>
            </a:r>
            <a:endParaRPr/>
          </a:p>
        </p:txBody>
      </p:sp>
      <p:cxnSp>
        <p:nvCxnSpPr>
          <p:cNvPr id="575" name="Google Shape;575;p58"/>
          <p:cNvCxnSpPr/>
          <p:nvPr/>
        </p:nvCxnSpPr>
        <p:spPr>
          <a:xfrm>
            <a:off x="1969113" y="292651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6" name="Google Shape;576;p58"/>
          <p:cNvCxnSpPr/>
          <p:nvPr/>
        </p:nvCxnSpPr>
        <p:spPr>
          <a:xfrm>
            <a:off x="4272688" y="291801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" name="Google Shape;577;p58"/>
          <p:cNvCxnSpPr/>
          <p:nvPr/>
        </p:nvCxnSpPr>
        <p:spPr>
          <a:xfrm>
            <a:off x="6521813" y="291801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8" name="Google Shape;578;p58"/>
          <p:cNvSpPr/>
          <p:nvPr/>
        </p:nvSpPr>
        <p:spPr>
          <a:xfrm>
            <a:off x="5024650" y="2454025"/>
            <a:ext cx="1456200" cy="951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the best Plan</a:t>
            </a:r>
            <a:endParaRPr/>
          </a:p>
        </p:txBody>
      </p:sp>
      <p:sp>
        <p:nvSpPr>
          <p:cNvPr id="585" name="Google Shape;585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we have many VPlans corresponding to the available VFs.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want to find the best one.</a:t>
            </a:r>
            <a:endParaRPr/>
          </a:p>
        </p:txBody>
      </p:sp>
      <p:sp>
        <p:nvSpPr>
          <p:cNvPr id="586" name="Google Shape;586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The cost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many cases vectorization is not profitable.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cost model mainly attempt to </a:t>
            </a:r>
            <a:r>
              <a:rPr lang="en">
                <a:solidFill>
                  <a:srgbClr val="FF0000"/>
                </a:solidFill>
              </a:rPr>
              <a:t>predict</a:t>
            </a:r>
            <a:r>
              <a:rPr lang="en"/>
              <a:t> the expected speedup/slowdowns due to the supported instruction 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 the TargetTransformInfo (TTI) to query the different backends for the cost of different operations. </a:t>
            </a:r>
            <a:endParaRPr/>
          </a:p>
        </p:txBody>
      </p:sp>
      <p:sp>
        <p:nvSpPr>
          <p:cNvPr id="593" name="Google Shape;59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The cost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9" name="Google Shape;59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363426" cy="349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61"/>
          <p:cNvSpPr/>
          <p:nvPr/>
        </p:nvSpPr>
        <p:spPr>
          <a:xfrm>
            <a:off x="252313" y="1122475"/>
            <a:ext cx="8482200" cy="1741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61"/>
          <p:cNvSpPr/>
          <p:nvPr/>
        </p:nvSpPr>
        <p:spPr>
          <a:xfrm>
            <a:off x="3017800" y="1296325"/>
            <a:ext cx="390300" cy="1393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61"/>
          <p:cNvSpPr/>
          <p:nvPr/>
        </p:nvSpPr>
        <p:spPr>
          <a:xfrm>
            <a:off x="1990850" y="1296325"/>
            <a:ext cx="757200" cy="13938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The cost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9" name="Google Shape;60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363426" cy="349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62"/>
          <p:cNvSpPr/>
          <p:nvPr/>
        </p:nvSpPr>
        <p:spPr>
          <a:xfrm>
            <a:off x="252313" y="2969775"/>
            <a:ext cx="8482200" cy="1741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62"/>
          <p:cNvSpPr/>
          <p:nvPr/>
        </p:nvSpPr>
        <p:spPr>
          <a:xfrm>
            <a:off x="3017800" y="3289600"/>
            <a:ext cx="390300" cy="11571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62"/>
          <p:cNvSpPr/>
          <p:nvPr/>
        </p:nvSpPr>
        <p:spPr>
          <a:xfrm>
            <a:off x="1995375" y="3289600"/>
            <a:ext cx="757200" cy="11571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3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Convert PHI instruction to Select instruction: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9" name="Google Shape;61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" y="2517880"/>
            <a:ext cx="3581450" cy="18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63"/>
          <p:cNvSpPr txBox="1"/>
          <p:nvPr/>
        </p:nvSpPr>
        <p:spPr>
          <a:xfrm>
            <a:off x="1627100" y="2071050"/>
            <a:ext cx="22782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 code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21" name="Google Shape;621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9375" y="1522563"/>
            <a:ext cx="459105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63"/>
          <p:cNvSpPr txBox="1"/>
          <p:nvPr/>
        </p:nvSpPr>
        <p:spPr>
          <a:xfrm>
            <a:off x="5895300" y="1086225"/>
            <a:ext cx="22782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23" name="Google Shape;623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9376" y="4014076"/>
            <a:ext cx="4651200" cy="5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63"/>
          <p:cNvSpPr txBox="1"/>
          <p:nvPr/>
        </p:nvSpPr>
        <p:spPr>
          <a:xfrm>
            <a:off x="5275875" y="3625875"/>
            <a:ext cx="22782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Convert to Select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5" name="Google Shape;625;p63"/>
          <p:cNvSpPr txBox="1"/>
          <p:nvPr>
            <p:ph type="title"/>
          </p:nvPr>
        </p:nvSpPr>
        <p:spPr>
          <a:xfrm>
            <a:off x="311700" y="557750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FF9900"/>
                </a:solidFill>
              </a:rPr>
              <a:t>PHI instruction</a:t>
            </a:r>
            <a:endParaRPr>
              <a:solidFill>
                <a:srgbClr val="FF99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626" name="Google Shape;626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4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Convert PHI instruction to Select instruction: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64"/>
          <p:cNvSpPr txBox="1"/>
          <p:nvPr>
            <p:ph type="title"/>
          </p:nvPr>
        </p:nvSpPr>
        <p:spPr>
          <a:xfrm>
            <a:off x="311700" y="557750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FF9900"/>
                </a:solidFill>
              </a:rPr>
              <a:t>PHI instruction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64"/>
          <p:cNvSpPr/>
          <p:nvPr/>
        </p:nvSpPr>
        <p:spPr>
          <a:xfrm>
            <a:off x="571125" y="1679575"/>
            <a:ext cx="826200" cy="48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635" name="Google Shape;635;p64"/>
          <p:cNvSpPr/>
          <p:nvPr/>
        </p:nvSpPr>
        <p:spPr>
          <a:xfrm>
            <a:off x="1739225" y="1679575"/>
            <a:ext cx="826200" cy="48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636" name="Google Shape;636;p64"/>
          <p:cNvSpPr/>
          <p:nvPr/>
        </p:nvSpPr>
        <p:spPr>
          <a:xfrm>
            <a:off x="4324800" y="1679575"/>
            <a:ext cx="826200" cy="48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637" name="Google Shape;637;p64"/>
          <p:cNvSpPr/>
          <p:nvPr/>
        </p:nvSpPr>
        <p:spPr>
          <a:xfrm>
            <a:off x="5578650" y="1679575"/>
            <a:ext cx="826200" cy="48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638" name="Google Shape;638;p64"/>
          <p:cNvSpPr/>
          <p:nvPr/>
        </p:nvSpPr>
        <p:spPr>
          <a:xfrm>
            <a:off x="6859625" y="1679575"/>
            <a:ext cx="826200" cy="48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639" name="Google Shape;639;p64"/>
          <p:cNvCxnSpPr/>
          <p:nvPr/>
        </p:nvCxnSpPr>
        <p:spPr>
          <a:xfrm>
            <a:off x="984225" y="2167075"/>
            <a:ext cx="494400" cy="46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0" name="Google Shape;640;p64"/>
          <p:cNvCxnSpPr/>
          <p:nvPr/>
        </p:nvCxnSpPr>
        <p:spPr>
          <a:xfrm flipH="1">
            <a:off x="1641100" y="2167075"/>
            <a:ext cx="502200" cy="4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1" name="Google Shape;641;p64"/>
          <p:cNvSpPr txBox="1"/>
          <p:nvPr/>
        </p:nvSpPr>
        <p:spPr>
          <a:xfrm>
            <a:off x="1099275" y="2681725"/>
            <a:ext cx="8985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Phi a,b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42" name="Google Shape;642;p64"/>
          <p:cNvCxnSpPr/>
          <p:nvPr/>
        </p:nvCxnSpPr>
        <p:spPr>
          <a:xfrm>
            <a:off x="4738950" y="2169325"/>
            <a:ext cx="1012200" cy="53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3" name="Google Shape;643;p64"/>
          <p:cNvCxnSpPr/>
          <p:nvPr/>
        </p:nvCxnSpPr>
        <p:spPr>
          <a:xfrm>
            <a:off x="5988300" y="2169325"/>
            <a:ext cx="6600" cy="56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4" name="Google Shape;644;p64"/>
          <p:cNvCxnSpPr/>
          <p:nvPr/>
        </p:nvCxnSpPr>
        <p:spPr>
          <a:xfrm flipH="1">
            <a:off x="6238775" y="2182825"/>
            <a:ext cx="1028400" cy="52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5" name="Google Shape;645;p64"/>
          <p:cNvSpPr txBox="1"/>
          <p:nvPr/>
        </p:nvSpPr>
        <p:spPr>
          <a:xfrm>
            <a:off x="5389025" y="2716200"/>
            <a:ext cx="14706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Phi a,b,c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6" name="Google Shape;646;p64"/>
          <p:cNvSpPr txBox="1"/>
          <p:nvPr/>
        </p:nvSpPr>
        <p:spPr>
          <a:xfrm>
            <a:off x="801325" y="3106025"/>
            <a:ext cx="29094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</a:rPr>
              <a:t>Need 1 select instructions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647" name="Google Shape;647;p64"/>
          <p:cNvSpPr txBox="1"/>
          <p:nvPr/>
        </p:nvSpPr>
        <p:spPr>
          <a:xfrm>
            <a:off x="5199400" y="3106025"/>
            <a:ext cx="29094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</a:rPr>
              <a:t>Need 2 select instructions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id="648" name="Google Shape;64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325" y="3774800"/>
            <a:ext cx="6318225" cy="81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5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RISC-V use </a:t>
            </a:r>
            <a:r>
              <a:rPr lang="en">
                <a:solidFill>
                  <a:srgbClr val="FF0000"/>
                </a:solidFill>
              </a:rPr>
              <a:t>VMERGE_VVM</a:t>
            </a:r>
            <a:r>
              <a:rPr lang="en"/>
              <a:t> to do this.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There are three vectors in this 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Then the result is :</a:t>
            </a:r>
            <a:endParaRPr/>
          </a:p>
        </p:txBody>
      </p:sp>
      <p:pic>
        <p:nvPicPr>
          <p:cNvPr id="654" name="Google Shape;65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650" y="1923457"/>
            <a:ext cx="4928500" cy="10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650" y="3753730"/>
            <a:ext cx="3664325" cy="4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7350" y="177680"/>
            <a:ext cx="3581450" cy="18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65"/>
          <p:cNvSpPr txBox="1"/>
          <p:nvPr>
            <p:ph type="title"/>
          </p:nvPr>
        </p:nvSpPr>
        <p:spPr>
          <a:xfrm>
            <a:off x="311700" y="557750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FF9900"/>
                </a:solidFill>
              </a:rPr>
              <a:t>PHI instruction</a:t>
            </a:r>
            <a:endParaRPr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658" name="Google Shape;658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6"/>
          <p:cNvSpPr txBox="1"/>
          <p:nvPr>
            <p:ph idx="1" type="body"/>
          </p:nvPr>
        </p:nvSpPr>
        <p:spPr>
          <a:xfrm>
            <a:off x="323850" y="1007707"/>
            <a:ext cx="8218500" cy="3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 the cost of vectorizing a PHI instruction is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( Numbers of select instructions ) * ( the cost of VMERGE_VVM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Cost of VMERGE_VVM = 1 * LMUL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Real case example: ( in SPEC2006 445.gobmk)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%commonlibs.3 = phi i32 [ %inc216, %if.then215 ], [ %commonlibs.2300, %land.lhs.true205 ], [ %commonlibs.2300, %lor.lhs.false193 ]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graphicFrame>
        <p:nvGraphicFramePr>
          <p:cNvPr id="664" name="Google Shape;664;p66"/>
          <p:cNvGraphicFramePr/>
          <p:nvPr/>
        </p:nvGraphicFramePr>
        <p:xfrm>
          <a:off x="813600" y="323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{3BAFBBB7-AA4B-4DD8-96B4-59D6600F9274}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LMUL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65" name="Google Shape;665;p66"/>
          <p:cNvSpPr txBox="1"/>
          <p:nvPr>
            <p:ph type="title"/>
          </p:nvPr>
        </p:nvSpPr>
        <p:spPr>
          <a:xfrm>
            <a:off x="311700" y="557750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FF9900"/>
                </a:solidFill>
              </a:rPr>
              <a:t>PHI instruction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 vectorizer Structure</a:t>
            </a:r>
            <a:endParaRPr/>
          </a:p>
        </p:txBody>
      </p:sp>
      <p:sp>
        <p:nvSpPr>
          <p:cNvPr id="672" name="Google Shape;672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When we try to vectorize a loop ……</a:t>
            </a:r>
            <a:endParaRPr/>
          </a:p>
        </p:txBody>
      </p:sp>
      <p:sp>
        <p:nvSpPr>
          <p:cNvPr id="673" name="Google Shape;673;p67"/>
          <p:cNvSpPr/>
          <p:nvPr/>
        </p:nvSpPr>
        <p:spPr>
          <a:xfrm>
            <a:off x="662100" y="2595775"/>
            <a:ext cx="1139700" cy="66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Legality Check</a:t>
            </a:r>
            <a:endParaRPr/>
          </a:p>
        </p:txBody>
      </p:sp>
      <p:sp>
        <p:nvSpPr>
          <p:cNvPr id="674" name="Google Shape;674;p67"/>
          <p:cNvSpPr/>
          <p:nvPr/>
        </p:nvSpPr>
        <p:spPr>
          <a:xfrm>
            <a:off x="2847438" y="2578725"/>
            <a:ext cx="1248600" cy="68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vectorization recipes</a:t>
            </a:r>
            <a:endParaRPr/>
          </a:p>
        </p:txBody>
      </p:sp>
      <p:sp>
        <p:nvSpPr>
          <p:cNvPr id="675" name="Google Shape;675;p67"/>
          <p:cNvSpPr/>
          <p:nvPr/>
        </p:nvSpPr>
        <p:spPr>
          <a:xfrm>
            <a:off x="5160350" y="2587225"/>
            <a:ext cx="1139700" cy="68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the best Plan</a:t>
            </a:r>
            <a:endParaRPr/>
          </a:p>
        </p:txBody>
      </p:sp>
      <p:sp>
        <p:nvSpPr>
          <p:cNvPr id="676" name="Google Shape;676;p67"/>
          <p:cNvSpPr/>
          <p:nvPr/>
        </p:nvSpPr>
        <p:spPr>
          <a:xfrm>
            <a:off x="7454575" y="2587275"/>
            <a:ext cx="1139700" cy="66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Execute the Plan</a:t>
            </a:r>
            <a:endParaRPr/>
          </a:p>
        </p:txBody>
      </p:sp>
      <p:cxnSp>
        <p:nvCxnSpPr>
          <p:cNvPr id="677" name="Google Shape;677;p67"/>
          <p:cNvCxnSpPr/>
          <p:nvPr/>
        </p:nvCxnSpPr>
        <p:spPr>
          <a:xfrm>
            <a:off x="1969113" y="292651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8" name="Google Shape;678;p67"/>
          <p:cNvCxnSpPr/>
          <p:nvPr/>
        </p:nvCxnSpPr>
        <p:spPr>
          <a:xfrm>
            <a:off x="4272688" y="291801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9" name="Google Shape;679;p67"/>
          <p:cNvCxnSpPr/>
          <p:nvPr/>
        </p:nvCxnSpPr>
        <p:spPr>
          <a:xfrm>
            <a:off x="6521813" y="2918013"/>
            <a:ext cx="711000" cy="69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0" name="Google Shape;680;p67"/>
          <p:cNvSpPr/>
          <p:nvPr/>
        </p:nvSpPr>
        <p:spPr>
          <a:xfrm>
            <a:off x="7296325" y="2454025"/>
            <a:ext cx="1456200" cy="951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8"/>
          <p:cNvSpPr txBox="1"/>
          <p:nvPr>
            <p:ph idx="1" type="body"/>
          </p:nvPr>
        </p:nvSpPr>
        <p:spPr>
          <a:xfrm>
            <a:off x="323850" y="1007672"/>
            <a:ext cx="8571600" cy="404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" u="sng">
                <a:solidFill>
                  <a:schemeClr val="hlink"/>
                </a:solidFill>
                <a:hlinkClick r:id="rId3"/>
              </a:rPr>
              <a:t>Writing an LLVM Backend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" u="sng">
                <a:solidFill>
                  <a:schemeClr val="hlink"/>
                </a:solidFill>
                <a:hlinkClick r:id="rId4"/>
              </a:rPr>
              <a:t>2014 LLVM Developers’ Meeting: “Building an LLVM Backend ”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" u="sng">
                <a:solidFill>
                  <a:schemeClr val="hlink"/>
                </a:solidFill>
                <a:hlinkClick r:id="rId5"/>
              </a:rPr>
              <a:t>llvm/lib/Transforms/Vectorize/SLPVefctorizer.cpp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" u="sng">
                <a:solidFill>
                  <a:schemeClr val="hlink"/>
                </a:solidFill>
                <a:hlinkClick r:id="rId6"/>
              </a:rPr>
              <a:t>llvm/include/llvm/Transforms/Vectorize/SLPVectorizer.h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" u="sng">
                <a:solidFill>
                  <a:schemeClr val="hlink"/>
                </a:solidFill>
                <a:hlinkClick r:id="rId7"/>
              </a:rPr>
              <a:t>Writing LLVM Pass in 2018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" u="sng">
                <a:solidFill>
                  <a:schemeClr val="hlink"/>
                </a:solidFill>
                <a:hlinkClick r:id="rId8"/>
              </a:rPr>
              <a:t>Exploiting Superword Level Parallelism with Multimedia Instruction Sets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" u="sng">
                <a:solidFill>
                  <a:schemeClr val="hlink"/>
                </a:solidFill>
                <a:hlinkClick r:id="rId9"/>
              </a:rPr>
              <a:t>[patch] Loop-aware SLP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" u="sng">
                <a:solidFill>
                  <a:schemeClr val="hlink"/>
                </a:solidFill>
                <a:hlinkClick r:id="rId10"/>
              </a:rPr>
              <a:t>Loop-aware SLP in GCC</a:t>
            </a:r>
            <a:endParaRPr/>
          </a:p>
        </p:txBody>
      </p:sp>
      <p:sp>
        <p:nvSpPr>
          <p:cNvPr id="687" name="Google Shape;687;p68"/>
          <p:cNvSpPr txBox="1"/>
          <p:nvPr>
            <p:ph type="title"/>
          </p:nvPr>
        </p:nvSpPr>
        <p:spPr>
          <a:xfrm>
            <a:off x="323850" y="177670"/>
            <a:ext cx="8218500" cy="72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688" name="Google Shape;688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